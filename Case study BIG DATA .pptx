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Lst>
  <p:sldSz cx="9144000" cy="5143500" type="screen16x9"/>
  <p:notesSz cx="6858000" cy="9144000"/>
  <p:embeddedFontLst>
    <p:embeddedFont>
      <p:font typeface="Oswald" panose="020B0604020202020204" charset="0"/>
      <p:regular r:id="rId16"/>
      <p:bold r:id="rId17"/>
    </p:embeddedFont>
    <p:embeddedFont>
      <p:font typeface="Roboto"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8" d="100"/>
          <a:sy n="118" d="100"/>
        </p:scale>
        <p:origin x="41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43556689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4270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f18b045ce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1f18b045ce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0946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c6f9e470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c6f9e470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0739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c6f9e470d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c6f9e470d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5321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c6f9e470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8006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c6f9e470d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c6f9e470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692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07fcc7f6f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07fcc7f6f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794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07fcc7f6f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07fcc7f6f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93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07fcc7f6fe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07fcc7f6f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8738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07fcc7f6fe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07fcc7f6f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961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07fcc7f6fe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07fcc7f6f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1538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605300" y="718250"/>
            <a:ext cx="60414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i="1">
                <a:solidFill>
                  <a:srgbClr val="BF9000"/>
                </a:solidFill>
                <a:latin typeface="Oswald"/>
                <a:ea typeface="Oswald"/>
                <a:cs typeface="Oswald"/>
                <a:sym typeface="Oswald"/>
              </a:rPr>
              <a:t> </a:t>
            </a:r>
            <a:r>
              <a:rPr lang="en">
                <a:latin typeface="Oswald"/>
                <a:ea typeface="Oswald"/>
                <a:cs typeface="Oswald"/>
                <a:sym typeface="Oswald"/>
              </a:rPr>
              <a:t>CASE STUDY ON BIG DATA ANALYTICS</a:t>
            </a:r>
            <a:endParaRPr>
              <a:latin typeface="Oswald"/>
              <a:ea typeface="Oswald"/>
              <a:cs typeface="Oswald"/>
              <a:sym typeface="Oswald"/>
            </a:endParaRPr>
          </a:p>
        </p:txBody>
      </p:sp>
      <p:sp>
        <p:nvSpPr>
          <p:cNvPr id="86" name="Google Shape;86;p13"/>
          <p:cNvSpPr txBox="1">
            <a:spLocks noGrp="1"/>
          </p:cNvSpPr>
          <p:nvPr>
            <p:ph type="subTitle" idx="1"/>
          </p:nvPr>
        </p:nvSpPr>
        <p:spPr>
          <a:xfrm>
            <a:off x="-94400" y="1370975"/>
            <a:ext cx="5545500" cy="103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i="1">
                <a:solidFill>
                  <a:srgbClr val="BF9000"/>
                </a:solidFill>
              </a:rPr>
              <a:t> </a:t>
            </a:r>
            <a:r>
              <a:rPr lang="en" sz="2700" b="1" i="1">
                <a:solidFill>
                  <a:srgbClr val="BF9000"/>
                </a:solidFill>
                <a:latin typeface="Oswald"/>
                <a:ea typeface="Oswald"/>
                <a:cs typeface="Oswald"/>
                <a:sym typeface="Oswald"/>
              </a:rPr>
              <a:t> </a:t>
            </a:r>
            <a:endParaRPr sz="2700" b="1" i="1">
              <a:solidFill>
                <a:srgbClr val="BF9000"/>
              </a:solidFill>
              <a:latin typeface="Oswald"/>
              <a:ea typeface="Oswald"/>
              <a:cs typeface="Oswald"/>
              <a:sym typeface="Oswald"/>
            </a:endParaRPr>
          </a:p>
          <a:p>
            <a:pPr marL="0" lvl="0" indent="0" algn="l" rtl="0">
              <a:spcBef>
                <a:spcPts val="0"/>
              </a:spcBef>
              <a:spcAft>
                <a:spcPts val="0"/>
              </a:spcAft>
              <a:buNone/>
            </a:pPr>
            <a:r>
              <a:rPr lang="en" sz="2700" b="1" i="1">
                <a:solidFill>
                  <a:srgbClr val="BF9000"/>
                </a:solidFill>
                <a:latin typeface="Oswald"/>
                <a:ea typeface="Oswald"/>
                <a:cs typeface="Oswald"/>
                <a:sym typeface="Oswald"/>
              </a:rPr>
              <a:t>                      DoorDash </a:t>
            </a:r>
            <a:endParaRPr sz="2700" b="1" i="1">
              <a:solidFill>
                <a:srgbClr val="BF9000"/>
              </a:solidFill>
              <a:latin typeface="Oswald"/>
              <a:ea typeface="Oswald"/>
              <a:cs typeface="Oswald"/>
              <a:sym typeface="Oswald"/>
            </a:endParaRPr>
          </a:p>
          <a:p>
            <a:pPr marL="0" lvl="0" indent="0" algn="l" rtl="0">
              <a:spcBef>
                <a:spcPts val="0"/>
              </a:spcBef>
              <a:spcAft>
                <a:spcPts val="0"/>
              </a:spcAft>
              <a:buNone/>
            </a:pPr>
            <a:r>
              <a:rPr lang="en" sz="2700" b="1" i="1">
                <a:solidFill>
                  <a:srgbClr val="BF9000"/>
                </a:solidFill>
                <a:latin typeface="Oswald"/>
                <a:ea typeface="Oswald"/>
                <a:cs typeface="Oswald"/>
                <a:sym typeface="Oswald"/>
              </a:rPr>
              <a:t>            “DELIVERING GOOD”</a:t>
            </a:r>
            <a:endParaRPr sz="2700" b="1" i="1">
              <a:solidFill>
                <a:srgbClr val="BF9000"/>
              </a:solidFill>
              <a:latin typeface="Oswald"/>
              <a:ea typeface="Oswald"/>
              <a:cs typeface="Oswald"/>
              <a:sym typeface="Oswald"/>
            </a:endParaRPr>
          </a:p>
          <a:p>
            <a:pPr marL="0" lvl="0" indent="0" algn="l" rtl="0">
              <a:spcBef>
                <a:spcPts val="0"/>
              </a:spcBef>
              <a:spcAft>
                <a:spcPts val="0"/>
              </a:spcAft>
              <a:buNone/>
            </a:pPr>
            <a:endParaRPr i="1">
              <a:solidFill>
                <a:srgbClr val="BF9000"/>
              </a:solidFill>
              <a:latin typeface="Oswald"/>
              <a:ea typeface="Oswald"/>
              <a:cs typeface="Oswald"/>
              <a:sym typeface="Oswald"/>
            </a:endParaRPr>
          </a:p>
          <a:p>
            <a:pPr marL="0" lvl="0" indent="0" algn="l" rtl="0">
              <a:spcBef>
                <a:spcPts val="0"/>
              </a:spcBef>
              <a:spcAft>
                <a:spcPts val="0"/>
              </a:spcAft>
              <a:buNone/>
            </a:pPr>
            <a:r>
              <a:rPr lang="en" i="1">
                <a:solidFill>
                  <a:srgbClr val="BF9000"/>
                </a:solidFill>
                <a:latin typeface="Oswald"/>
                <a:ea typeface="Oswald"/>
                <a:cs typeface="Oswald"/>
                <a:sym typeface="Oswald"/>
              </a:rPr>
              <a:t>                    </a:t>
            </a:r>
            <a:endParaRPr i="1">
              <a:solidFill>
                <a:srgbClr val="BF9000"/>
              </a:solidFill>
              <a:latin typeface="Oswald"/>
              <a:ea typeface="Oswald"/>
              <a:cs typeface="Oswald"/>
              <a:sym typeface="Oswald"/>
            </a:endParaRPr>
          </a:p>
          <a:p>
            <a:pPr marL="0" lvl="0" indent="0" algn="l" rtl="0">
              <a:spcBef>
                <a:spcPts val="0"/>
              </a:spcBef>
              <a:spcAft>
                <a:spcPts val="0"/>
              </a:spcAft>
              <a:buNone/>
            </a:pPr>
            <a:endParaRPr i="1">
              <a:solidFill>
                <a:srgbClr val="BF9000"/>
              </a:solidFill>
            </a:endParaRPr>
          </a:p>
          <a:p>
            <a:pPr marL="0" lvl="0" indent="0" algn="l" rtl="0">
              <a:spcBef>
                <a:spcPts val="0"/>
              </a:spcBef>
              <a:spcAft>
                <a:spcPts val="0"/>
              </a:spcAft>
              <a:buNone/>
            </a:pPr>
            <a:r>
              <a:rPr lang="en" i="1">
                <a:solidFill>
                  <a:srgbClr val="BF9000"/>
                </a:solidFill>
              </a:rPr>
              <a:t>                                                </a:t>
            </a:r>
            <a:endParaRPr i="1">
              <a:solidFill>
                <a:srgbClr val="BF9000"/>
              </a:solidFill>
            </a:endParaRPr>
          </a:p>
          <a:p>
            <a:pPr marL="0" lvl="0" indent="0" algn="l" rtl="0">
              <a:spcBef>
                <a:spcPts val="0"/>
              </a:spcBef>
              <a:spcAft>
                <a:spcPts val="0"/>
              </a:spcAft>
              <a:buNone/>
            </a:pPr>
            <a:r>
              <a:rPr lang="en" i="1">
                <a:solidFill>
                  <a:srgbClr val="BF9000"/>
                </a:solidFill>
              </a:rPr>
              <a:t>                                                      </a:t>
            </a:r>
            <a:endParaRPr i="1">
              <a:solidFill>
                <a:srgbClr val="BF9000"/>
              </a:solidFill>
            </a:endParaRPr>
          </a:p>
          <a:p>
            <a:pPr marL="0" lvl="0" indent="0" algn="l" rtl="0">
              <a:spcBef>
                <a:spcPts val="0"/>
              </a:spcBef>
              <a:spcAft>
                <a:spcPts val="0"/>
              </a:spcAft>
              <a:buNone/>
            </a:pPr>
            <a:r>
              <a:rPr lang="en" i="1">
                <a:solidFill>
                  <a:srgbClr val="BF9000"/>
                </a:solidFill>
              </a:rPr>
              <a:t>                                                           </a:t>
            </a:r>
            <a:endParaRPr i="1">
              <a:solidFill>
                <a:srgbClr val="BF9000"/>
              </a:solidFill>
            </a:endParaRPr>
          </a:p>
          <a:p>
            <a:pPr marL="0" lvl="0" indent="0" algn="l" rtl="0">
              <a:spcBef>
                <a:spcPts val="0"/>
              </a:spcBef>
              <a:spcAft>
                <a:spcPts val="0"/>
              </a:spcAft>
              <a:buNone/>
            </a:pPr>
            <a:r>
              <a:rPr lang="en" i="1">
                <a:solidFill>
                  <a:srgbClr val="BF9000"/>
                </a:solidFill>
              </a:rPr>
              <a:t>                                                    </a:t>
            </a:r>
            <a:endParaRPr i="1">
              <a:solidFill>
                <a:srgbClr val="BF9000"/>
              </a:solidFill>
            </a:endParaRPr>
          </a:p>
        </p:txBody>
      </p:sp>
      <p:pic>
        <p:nvPicPr>
          <p:cNvPr id="87" name="Google Shape;87;p13"/>
          <p:cNvPicPr preferRelativeResize="0"/>
          <p:nvPr/>
        </p:nvPicPr>
        <p:blipFill>
          <a:blip r:embed="rId3">
            <a:alphaModFix/>
          </a:blip>
          <a:stretch>
            <a:fillRect/>
          </a:stretch>
        </p:blipFill>
        <p:spPr>
          <a:xfrm>
            <a:off x="6148375" y="0"/>
            <a:ext cx="2995625" cy="2355950"/>
          </a:xfrm>
          <a:prstGeom prst="rect">
            <a:avLst/>
          </a:prstGeom>
          <a:noFill/>
          <a:ln>
            <a:noFill/>
          </a:ln>
        </p:spPr>
      </p:pic>
      <p:sp>
        <p:nvSpPr>
          <p:cNvPr id="88" name="Google Shape;88;p13"/>
          <p:cNvSpPr txBox="1"/>
          <p:nvPr/>
        </p:nvSpPr>
        <p:spPr>
          <a:xfrm>
            <a:off x="3799500" y="3193275"/>
            <a:ext cx="53445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BF9000"/>
                </a:solidFill>
                <a:latin typeface="Oswald"/>
                <a:ea typeface="Oswald"/>
                <a:cs typeface="Oswald"/>
                <a:sym typeface="Oswald"/>
              </a:rPr>
              <a:t>  </a:t>
            </a:r>
            <a:endParaRPr sz="2100" i="1">
              <a:solidFill>
                <a:srgbClr val="BF9000"/>
              </a:solidFill>
              <a:latin typeface="Oswald"/>
              <a:ea typeface="Oswald"/>
              <a:cs typeface="Oswald"/>
              <a:sym typeface="Oswald"/>
            </a:endParaRPr>
          </a:p>
          <a:p>
            <a:pPr marL="0" lvl="0" indent="0" algn="l" rtl="0">
              <a:spcBef>
                <a:spcPts val="0"/>
              </a:spcBef>
              <a:spcAft>
                <a:spcPts val="0"/>
              </a:spcAft>
              <a:buNone/>
            </a:pPr>
            <a:r>
              <a:rPr lang="en" sz="2100" i="1">
                <a:solidFill>
                  <a:schemeClr val="lt1"/>
                </a:solidFill>
                <a:latin typeface="Oswald"/>
                <a:ea typeface="Oswald"/>
                <a:cs typeface="Oswald"/>
                <a:sym typeface="Oswald"/>
              </a:rPr>
              <a:t>GROUP MEMBERS:-                                          CHIRAG THATHI, PRANAV SARNA, DHRUV VIJAY &amp; TANMAY PANDEY</a:t>
            </a:r>
            <a:endParaRPr>
              <a:solidFill>
                <a:schemeClr val="lt1"/>
              </a:solidFill>
              <a:latin typeface="Roboto"/>
              <a:ea typeface="Roboto"/>
              <a:cs typeface="Roboto"/>
              <a:sym typeface="Roboto"/>
            </a:endParaRPr>
          </a:p>
        </p:txBody>
      </p:sp>
      <p:sp>
        <p:nvSpPr>
          <p:cNvPr id="89" name="Google Shape;89;p13"/>
          <p:cNvSpPr txBox="1"/>
          <p:nvPr/>
        </p:nvSpPr>
        <p:spPr>
          <a:xfrm>
            <a:off x="506175" y="2955100"/>
            <a:ext cx="26796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i="1">
                <a:solidFill>
                  <a:srgbClr val="BF9000"/>
                </a:solidFill>
                <a:latin typeface="Oswald"/>
                <a:ea typeface="Oswald"/>
                <a:cs typeface="Oswald"/>
                <a:sym typeface="Oswald"/>
              </a:rPr>
              <a:t>UNDER THE GUIDANCE OF                                              MRS PRAJAKTA SOMAN</a:t>
            </a:r>
            <a:endParaRPr sz="17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1000"/>
                                        <p:tgtEl>
                                          <p:spTgt spid="85"/>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6"/>
                                        </p:tgtEl>
                                        <p:attrNameLst>
                                          <p:attrName>style.visibility</p:attrName>
                                        </p:attrNameLst>
                                      </p:cBhvr>
                                      <p:to>
                                        <p:strVal val="visible"/>
                                      </p:to>
                                    </p:set>
                                    <p:anim calcmode="lin" valueType="num">
                                      <p:cBhvr additive="base">
                                        <p:cTn id="12" dur="1000"/>
                                        <p:tgtEl>
                                          <p:spTgt spid="86"/>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87"/>
                                        </p:tgtEl>
                                        <p:attrNameLst>
                                          <p:attrName>style.visibility</p:attrName>
                                        </p:attrNameLst>
                                      </p:cBhvr>
                                      <p:to>
                                        <p:strVal val="visible"/>
                                      </p:to>
                                    </p:set>
                                    <p:anim calcmode="lin" valueType="num">
                                      <p:cBhvr additive="base">
                                        <p:cTn id="17" dur="1000"/>
                                        <p:tgtEl>
                                          <p:spTgt spid="87"/>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9"/>
                                        </p:tgtEl>
                                        <p:attrNameLst>
                                          <p:attrName>style.visibility</p:attrName>
                                        </p:attrNameLst>
                                      </p:cBhvr>
                                      <p:to>
                                        <p:strVal val="visible"/>
                                      </p:to>
                                    </p:set>
                                    <p:anim calcmode="lin" valueType="num">
                                      <p:cBhvr additive="base">
                                        <p:cTn id="22" dur="1000"/>
                                        <p:tgtEl>
                                          <p:spTgt spid="8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nodeType="clickEffect">
                                  <p:stCondLst>
                                    <p:cond delay="0"/>
                                  </p:stCondLst>
                                  <p:childTnLst>
                                    <p:set>
                                      <p:cBhvr>
                                        <p:cTn id="26" dur="1" fill="hold">
                                          <p:stCondLst>
                                            <p:cond delay="0"/>
                                          </p:stCondLst>
                                        </p:cTn>
                                        <p:tgtEl>
                                          <p:spTgt spid="88"/>
                                        </p:tgtEl>
                                        <p:attrNameLst>
                                          <p:attrName>style.visibility</p:attrName>
                                        </p:attrNameLst>
                                      </p:cBhvr>
                                      <p:to>
                                        <p:strVal val="visible"/>
                                      </p:to>
                                    </p:set>
                                    <p:anim calcmode="lin" valueType="num">
                                      <p:cBhvr additive="base">
                                        <p:cTn id="27" dur="1000"/>
                                        <p:tgtEl>
                                          <p:spTgt spid="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ctrTitle"/>
          </p:nvPr>
        </p:nvSpPr>
        <p:spPr>
          <a:xfrm>
            <a:off x="546000" y="33422"/>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Oswald"/>
                <a:ea typeface="Oswald"/>
                <a:cs typeface="Oswald"/>
                <a:sym typeface="Oswald"/>
              </a:rPr>
              <a:t>TABLE OF CONTENTS</a:t>
            </a:r>
            <a:endParaRPr>
              <a:latin typeface="Oswald"/>
              <a:ea typeface="Oswald"/>
              <a:cs typeface="Oswald"/>
              <a:sym typeface="Oswald"/>
            </a:endParaRPr>
          </a:p>
        </p:txBody>
      </p:sp>
      <p:sp>
        <p:nvSpPr>
          <p:cNvPr id="95" name="Google Shape;95;p14"/>
          <p:cNvSpPr txBox="1"/>
          <p:nvPr/>
        </p:nvSpPr>
        <p:spPr>
          <a:xfrm>
            <a:off x="506150" y="1064425"/>
            <a:ext cx="8589900" cy="34170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INTRODUCTION</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PROCESS FLOW</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BUSINESS MODEL OF DOORDASH</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MOTIVATION</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RESTAURANT RECOMMENDATION USING BIG DATA</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BIG DATA@DOORDASH</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ARCHITECTURE DESIGN</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GLOSSARY OF TERMS</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LIVE DATASET OF DOORDASH </a:t>
            </a:r>
            <a:endParaRPr sz="2100">
              <a:solidFill>
                <a:srgbClr val="BF9000"/>
              </a:solidFill>
              <a:latin typeface="Oswald"/>
              <a:ea typeface="Oswald"/>
              <a:cs typeface="Oswald"/>
              <a:sym typeface="Oswald"/>
            </a:endParaRPr>
          </a:p>
          <a:p>
            <a:pPr marL="457200" lvl="0" indent="-361950" algn="l" rtl="0">
              <a:spcBef>
                <a:spcPts val="0"/>
              </a:spcBef>
              <a:spcAft>
                <a:spcPts val="0"/>
              </a:spcAft>
              <a:buClr>
                <a:srgbClr val="BF9000"/>
              </a:buClr>
              <a:buSzPts val="2100"/>
              <a:buFont typeface="Oswald"/>
              <a:buAutoNum type="arabicPeriod"/>
            </a:pPr>
            <a:r>
              <a:rPr lang="en" sz="2100">
                <a:solidFill>
                  <a:srgbClr val="BF9000"/>
                </a:solidFill>
                <a:latin typeface="Oswald"/>
                <a:ea typeface="Oswald"/>
                <a:cs typeface="Oswald"/>
                <a:sym typeface="Oswald"/>
              </a:rPr>
              <a:t>REFERENCES</a:t>
            </a:r>
            <a:endParaRPr sz="2100">
              <a:solidFill>
                <a:srgbClr val="BF9000"/>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swald"/>
                <a:ea typeface="Oswald"/>
                <a:cs typeface="Oswald"/>
                <a:sym typeface="Oswald"/>
              </a:rPr>
              <a:t>  INTRODUCTION TO DOORDASH</a:t>
            </a:r>
            <a:endParaRPr>
              <a:latin typeface="Oswald"/>
              <a:ea typeface="Oswald"/>
              <a:cs typeface="Oswald"/>
              <a:sym typeface="Oswald"/>
            </a:endParaRPr>
          </a:p>
        </p:txBody>
      </p:sp>
      <p:sp>
        <p:nvSpPr>
          <p:cNvPr id="101" name="Google Shape;101;p15"/>
          <p:cNvSpPr/>
          <p:nvPr/>
        </p:nvSpPr>
        <p:spPr>
          <a:xfrm>
            <a:off x="432350" y="1304875"/>
            <a:ext cx="2469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02" name="Google Shape;102;p15"/>
          <p:cNvSpPr txBox="1">
            <a:spLocks noGrp="1"/>
          </p:cNvSpPr>
          <p:nvPr>
            <p:ph type="body" idx="4294967295"/>
          </p:nvPr>
        </p:nvSpPr>
        <p:spPr>
          <a:xfrm>
            <a:off x="678575" y="1386988"/>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3000">
                <a:solidFill>
                  <a:srgbClr val="FFFFFF"/>
                </a:solidFill>
                <a:latin typeface="Oswald"/>
                <a:ea typeface="Oswald"/>
                <a:cs typeface="Oswald"/>
                <a:sym typeface="Oswald"/>
              </a:rPr>
              <a:t>      </a:t>
            </a:r>
            <a:r>
              <a:rPr lang="en" sz="1700">
                <a:solidFill>
                  <a:srgbClr val="FFFFFF"/>
                </a:solidFill>
                <a:latin typeface="Oswald"/>
                <a:ea typeface="Oswald"/>
                <a:cs typeface="Oswald"/>
                <a:sym typeface="Oswald"/>
              </a:rPr>
              <a:t>ABOUT</a:t>
            </a:r>
            <a:endParaRPr sz="1700">
              <a:solidFill>
                <a:srgbClr val="FFFFFF"/>
              </a:solidFill>
            </a:endParaRPr>
          </a:p>
        </p:txBody>
      </p:sp>
      <p:sp>
        <p:nvSpPr>
          <p:cNvPr id="103" name="Google Shape;103;p15"/>
          <p:cNvSpPr txBox="1">
            <a:spLocks noGrp="1"/>
          </p:cNvSpPr>
          <p:nvPr>
            <p:ph type="body" idx="4294967295"/>
          </p:nvPr>
        </p:nvSpPr>
        <p:spPr>
          <a:xfrm>
            <a:off x="418075" y="2070600"/>
            <a:ext cx="2471700" cy="26508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sz="1400">
                <a:solidFill>
                  <a:srgbClr val="BF9000"/>
                </a:solidFill>
                <a:highlight>
                  <a:srgbClr val="FFFFFF"/>
                </a:highlight>
                <a:latin typeface="Oswald"/>
                <a:ea typeface="Oswald"/>
                <a:cs typeface="Oswald"/>
                <a:sym typeface="Oswald"/>
              </a:rPr>
              <a:t>DoorDash is a technology company that provides on-demand food delivery services. It was founded in 2013 and is headquartered in San Francisco, California. DoorDash connects customers with local restaurants, allowing them to order food for delivery or pickup through its website or mobile app</a:t>
            </a:r>
            <a:r>
              <a:rPr lang="en" sz="1200">
                <a:solidFill>
                  <a:srgbClr val="BF9000"/>
                </a:solidFill>
                <a:highlight>
                  <a:srgbClr val="FFFFFF"/>
                </a:highlight>
                <a:latin typeface="Oswald"/>
                <a:ea typeface="Oswald"/>
                <a:cs typeface="Oswald"/>
                <a:sym typeface="Oswald"/>
              </a:rPr>
              <a:t>.</a:t>
            </a:r>
            <a:endParaRPr sz="1600">
              <a:solidFill>
                <a:srgbClr val="BF9000"/>
              </a:solidFill>
              <a:highlight>
                <a:srgbClr val="FFFFFF"/>
              </a:highlight>
              <a:latin typeface="Oswald"/>
              <a:ea typeface="Oswald"/>
              <a:cs typeface="Oswald"/>
              <a:sym typeface="Oswald"/>
            </a:endParaRPr>
          </a:p>
        </p:txBody>
      </p:sp>
      <p:sp>
        <p:nvSpPr>
          <p:cNvPr id="104" name="Google Shape;104;p15"/>
          <p:cNvSpPr/>
          <p:nvPr/>
        </p:nvSpPr>
        <p:spPr>
          <a:xfrm>
            <a:off x="3044777" y="13048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05" name="Google Shape;105;p15"/>
          <p:cNvSpPr txBox="1">
            <a:spLocks noGrp="1"/>
          </p:cNvSpPr>
          <p:nvPr>
            <p:ph type="body" idx="4294967295"/>
          </p:nvPr>
        </p:nvSpPr>
        <p:spPr>
          <a:xfrm>
            <a:off x="3380800"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700">
                <a:solidFill>
                  <a:schemeClr val="lt1"/>
                </a:solidFill>
                <a:latin typeface="Oswald"/>
                <a:ea typeface="Oswald"/>
                <a:cs typeface="Oswald"/>
                <a:sym typeface="Oswald"/>
              </a:rPr>
              <a:t>PROBLEMS IDENTIFIED BY DOORDASH</a:t>
            </a:r>
            <a:endParaRPr sz="1700">
              <a:solidFill>
                <a:schemeClr val="lt1"/>
              </a:solidFill>
              <a:latin typeface="Oswald"/>
              <a:ea typeface="Oswald"/>
              <a:cs typeface="Oswald"/>
              <a:sym typeface="Oswald"/>
            </a:endParaRPr>
          </a:p>
        </p:txBody>
      </p:sp>
      <p:sp>
        <p:nvSpPr>
          <p:cNvPr id="106" name="Google Shape;106;p15"/>
          <p:cNvSpPr txBox="1">
            <a:spLocks noGrp="1"/>
          </p:cNvSpPr>
          <p:nvPr>
            <p:ph type="body" idx="4294967295"/>
          </p:nvPr>
        </p:nvSpPr>
        <p:spPr>
          <a:xfrm>
            <a:off x="3336146" y="2070575"/>
            <a:ext cx="2471700" cy="26508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rgbClr val="BF9000"/>
              </a:buClr>
              <a:buSzPts val="1500"/>
              <a:buFont typeface="Oswald"/>
              <a:buChar char="●"/>
            </a:pPr>
            <a:r>
              <a:rPr lang="en" sz="1400">
                <a:solidFill>
                  <a:srgbClr val="BF9000"/>
                </a:solidFill>
                <a:highlight>
                  <a:srgbClr val="FFFFFF"/>
                </a:highlight>
                <a:latin typeface="Oswald"/>
                <a:ea typeface="Oswald"/>
                <a:cs typeface="Oswald"/>
                <a:sym typeface="Oswald"/>
              </a:rPr>
              <a:t>Consumers were frustrated by poor delivery times and bad delivery time estimates.</a:t>
            </a:r>
            <a:endParaRPr sz="1400">
              <a:solidFill>
                <a:srgbClr val="BF9000"/>
              </a:solidFill>
              <a:highlight>
                <a:srgbClr val="FFFFFF"/>
              </a:highlight>
              <a:latin typeface="Oswald"/>
              <a:ea typeface="Oswald"/>
              <a:cs typeface="Oswald"/>
              <a:sym typeface="Oswald"/>
            </a:endParaRPr>
          </a:p>
          <a:p>
            <a:pPr marL="457200" lvl="0" indent="-317500" algn="l" rtl="0">
              <a:spcBef>
                <a:spcPts val="0"/>
              </a:spcBef>
              <a:spcAft>
                <a:spcPts val="0"/>
              </a:spcAft>
              <a:buClr>
                <a:srgbClr val="BF9000"/>
              </a:buClr>
              <a:buSzPts val="1400"/>
              <a:buFont typeface="Oswald"/>
              <a:buChar char="●"/>
            </a:pPr>
            <a:r>
              <a:rPr lang="en" sz="1400">
                <a:solidFill>
                  <a:srgbClr val="BF9000"/>
                </a:solidFill>
                <a:highlight>
                  <a:srgbClr val="FFFFFF"/>
                </a:highlight>
                <a:latin typeface="Oswald"/>
                <a:ea typeface="Oswald"/>
                <a:cs typeface="Oswald"/>
                <a:sym typeface="Oswald"/>
              </a:rPr>
              <a:t>Delivery Person Shortage</a:t>
            </a:r>
            <a:endParaRPr sz="1400">
              <a:solidFill>
                <a:srgbClr val="BF9000"/>
              </a:solidFill>
              <a:highlight>
                <a:srgbClr val="FFFFFF"/>
              </a:highlight>
              <a:latin typeface="Oswald"/>
              <a:ea typeface="Oswald"/>
              <a:cs typeface="Oswald"/>
              <a:sym typeface="Oswald"/>
            </a:endParaRPr>
          </a:p>
          <a:p>
            <a:pPr marL="457200" lvl="0" indent="-317500" algn="l" rtl="0">
              <a:spcBef>
                <a:spcPts val="0"/>
              </a:spcBef>
              <a:spcAft>
                <a:spcPts val="0"/>
              </a:spcAft>
              <a:buClr>
                <a:srgbClr val="BF9000"/>
              </a:buClr>
              <a:buSzPts val="1400"/>
              <a:buFont typeface="Oswald"/>
              <a:buChar char="●"/>
            </a:pPr>
            <a:r>
              <a:rPr lang="en" sz="1400">
                <a:solidFill>
                  <a:srgbClr val="BF9000"/>
                </a:solidFill>
                <a:highlight>
                  <a:srgbClr val="FFFFFF"/>
                </a:highlight>
                <a:latin typeface="Oswald"/>
                <a:ea typeface="Oswald"/>
                <a:cs typeface="Oswald"/>
                <a:sym typeface="Oswald"/>
              </a:rPr>
              <a:t>Determining accurate delivery times for consumers by taking into account several factors such as traffic , weather and parking conditions.</a:t>
            </a:r>
            <a:endParaRPr sz="1400">
              <a:solidFill>
                <a:srgbClr val="BF9000"/>
              </a:solidFill>
              <a:highlight>
                <a:srgbClr val="FFFFFF"/>
              </a:highlight>
              <a:latin typeface="Oswald"/>
              <a:ea typeface="Oswald"/>
              <a:cs typeface="Oswald"/>
              <a:sym typeface="Oswald"/>
            </a:endParaRPr>
          </a:p>
        </p:txBody>
      </p:sp>
      <p:sp>
        <p:nvSpPr>
          <p:cNvPr id="107" name="Google Shape;107;p15"/>
          <p:cNvSpPr/>
          <p:nvPr/>
        </p:nvSpPr>
        <p:spPr>
          <a:xfrm>
            <a:off x="5948502" y="13048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08" name="Google Shape;108;p15"/>
          <p:cNvSpPr txBox="1">
            <a:spLocks noGrp="1"/>
          </p:cNvSpPr>
          <p:nvPr>
            <p:ph type="body" idx="4294967295"/>
          </p:nvPr>
        </p:nvSpPr>
        <p:spPr>
          <a:xfrm>
            <a:off x="6289533"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latin typeface="Oswald"/>
                <a:ea typeface="Oswald"/>
                <a:cs typeface="Oswald"/>
                <a:sym typeface="Oswald"/>
              </a:rPr>
              <a:t>DOORDASH &amp; THEIR CRITICAL INSIGHT</a:t>
            </a:r>
            <a:endParaRPr>
              <a:solidFill>
                <a:schemeClr val="lt1"/>
              </a:solidFill>
              <a:latin typeface="Oswald"/>
              <a:ea typeface="Oswald"/>
              <a:cs typeface="Oswald"/>
              <a:sym typeface="Oswald"/>
            </a:endParaRPr>
          </a:p>
        </p:txBody>
      </p:sp>
      <p:sp>
        <p:nvSpPr>
          <p:cNvPr id="109" name="Google Shape;109;p15"/>
          <p:cNvSpPr txBox="1">
            <a:spLocks noGrp="1"/>
          </p:cNvSpPr>
          <p:nvPr>
            <p:ph type="body" idx="4294967295"/>
          </p:nvPr>
        </p:nvSpPr>
        <p:spPr>
          <a:xfrm>
            <a:off x="6254226" y="2070575"/>
            <a:ext cx="2471700" cy="26508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sz="1400">
                <a:solidFill>
                  <a:srgbClr val="BF9000"/>
                </a:solidFill>
                <a:highlight>
                  <a:srgbClr val="FFFFFF"/>
                </a:highlight>
                <a:latin typeface="Oswald"/>
                <a:ea typeface="Oswald"/>
                <a:cs typeface="Oswald"/>
                <a:sym typeface="Oswald"/>
              </a:rPr>
              <a:t>DoorDash saw they could bring the rigor of advanced analytics to each phase of the fulfillment process, leveraging business insight, machine learning and big data.</a:t>
            </a:r>
            <a:endParaRPr sz="1500">
              <a:solidFill>
                <a:srgbClr val="BF9000"/>
              </a:solidFill>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1000"/>
                                        <p:tgtEl>
                                          <p:spTgt spid="10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2"/>
                                        </p:tgtEl>
                                        <p:attrNameLst>
                                          <p:attrName>style.visibility</p:attrName>
                                        </p:attrNameLst>
                                      </p:cBhvr>
                                      <p:to>
                                        <p:strVal val="visible"/>
                                      </p:to>
                                    </p:set>
                                    <p:anim calcmode="lin" valueType="num">
                                      <p:cBhvr additive="base">
                                        <p:cTn id="12" dur="1000"/>
                                        <p:tgtEl>
                                          <p:spTgt spid="10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3"/>
                                        </p:tgtEl>
                                        <p:attrNameLst>
                                          <p:attrName>style.visibility</p:attrName>
                                        </p:attrNameLst>
                                      </p:cBhvr>
                                      <p:to>
                                        <p:strVal val="visible"/>
                                      </p:to>
                                    </p:set>
                                    <p:anim calcmode="lin" valueType="num">
                                      <p:cBhvr additive="base">
                                        <p:cTn id="17" dur="1000"/>
                                        <p:tgtEl>
                                          <p:spTgt spid="10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5"/>
                                        </p:tgtEl>
                                        <p:attrNameLst>
                                          <p:attrName>style.visibility</p:attrName>
                                        </p:attrNameLst>
                                      </p:cBhvr>
                                      <p:to>
                                        <p:strVal val="visible"/>
                                      </p:to>
                                    </p:set>
                                    <p:anim calcmode="lin" valueType="num">
                                      <p:cBhvr additive="base">
                                        <p:cTn id="22" dur="1000"/>
                                        <p:tgtEl>
                                          <p:spTgt spid="105"/>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6"/>
                                        </p:tgtEl>
                                        <p:attrNameLst>
                                          <p:attrName>style.visibility</p:attrName>
                                        </p:attrNameLst>
                                      </p:cBhvr>
                                      <p:to>
                                        <p:strVal val="visible"/>
                                      </p:to>
                                    </p:set>
                                    <p:anim calcmode="lin" valueType="num">
                                      <p:cBhvr additive="base">
                                        <p:cTn id="27" dur="1000"/>
                                        <p:tgtEl>
                                          <p:spTgt spid="10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08"/>
                                        </p:tgtEl>
                                        <p:attrNameLst>
                                          <p:attrName>style.visibility</p:attrName>
                                        </p:attrNameLst>
                                      </p:cBhvr>
                                      <p:to>
                                        <p:strVal val="visible"/>
                                      </p:to>
                                    </p:set>
                                    <p:anim calcmode="lin" valueType="num">
                                      <p:cBhvr additive="base">
                                        <p:cTn id="32" dur="1000"/>
                                        <p:tgtEl>
                                          <p:spTgt spid="108"/>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9"/>
                                        </p:tgtEl>
                                        <p:attrNameLst>
                                          <p:attrName>style.visibility</p:attrName>
                                        </p:attrNameLst>
                                      </p:cBhvr>
                                      <p:to>
                                        <p:strVal val="visible"/>
                                      </p:to>
                                    </p:set>
                                    <p:anim calcmode="lin" valueType="num">
                                      <p:cBhvr additive="base">
                                        <p:cTn id="37" dur="1000"/>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descr="Background pointer shape in timeline graphic"/>
          <p:cNvSpPr/>
          <p:nvPr/>
        </p:nvSpPr>
        <p:spPr>
          <a:xfrm>
            <a:off x="340934" y="2199000"/>
            <a:ext cx="1872300" cy="745500"/>
          </a:xfrm>
          <a:prstGeom prst="homePlate">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15" name="Google Shape;115;p16"/>
          <p:cNvSpPr txBox="1">
            <a:spLocks noGrp="1"/>
          </p:cNvSpPr>
          <p:nvPr>
            <p:ph type="body" idx="4294967295"/>
          </p:nvPr>
        </p:nvSpPr>
        <p:spPr>
          <a:xfrm>
            <a:off x="340923" y="2336550"/>
            <a:ext cx="1455600"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600">
                <a:solidFill>
                  <a:schemeClr val="lt1"/>
                </a:solidFill>
                <a:latin typeface="Oswald"/>
                <a:ea typeface="Oswald"/>
                <a:cs typeface="Oswald"/>
                <a:sym typeface="Oswald"/>
              </a:rPr>
              <a:t>CHOOSE ORDER</a:t>
            </a:r>
            <a:endParaRPr sz="1600">
              <a:solidFill>
                <a:schemeClr val="lt1"/>
              </a:solidFill>
              <a:latin typeface="Oswald"/>
              <a:ea typeface="Oswald"/>
              <a:cs typeface="Oswald"/>
              <a:sym typeface="Oswald"/>
            </a:endParaRPr>
          </a:p>
        </p:txBody>
      </p:sp>
      <p:grpSp>
        <p:nvGrpSpPr>
          <p:cNvPr id="116" name="Google Shape;116;p16"/>
          <p:cNvGrpSpPr/>
          <p:nvPr/>
        </p:nvGrpSpPr>
        <p:grpSpPr>
          <a:xfrm>
            <a:off x="969270" y="1610215"/>
            <a:ext cx="198900" cy="593656"/>
            <a:chOff x="777447" y="1610215"/>
            <a:chExt cx="198900" cy="593656"/>
          </a:xfrm>
        </p:grpSpPr>
        <p:cxnSp>
          <p:nvCxnSpPr>
            <p:cNvPr id="117" name="Google Shape;117;p16"/>
            <p:cNvCxnSpPr/>
            <p:nvPr/>
          </p:nvCxnSpPr>
          <p:spPr>
            <a:xfrm>
              <a:off x="876909" y="1649171"/>
              <a:ext cx="0" cy="554700"/>
            </a:xfrm>
            <a:prstGeom prst="straightConnector1">
              <a:avLst/>
            </a:prstGeom>
            <a:noFill/>
            <a:ln w="9525" cap="flat" cmpd="sng">
              <a:solidFill>
                <a:schemeClr val="dk2"/>
              </a:solidFill>
              <a:prstDash val="solid"/>
              <a:round/>
              <a:headEnd type="none" w="sm" len="sm"/>
              <a:tailEnd type="none" w="sm" len="sm"/>
            </a:ln>
          </p:spPr>
        </p:cxnSp>
        <p:sp>
          <p:nvSpPr>
            <p:cNvPr id="118" name="Google Shape;118;p16"/>
            <p:cNvSpPr/>
            <p:nvPr/>
          </p:nvSpPr>
          <p:spPr>
            <a:xfrm>
              <a:off x="777447" y="1610215"/>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6"/>
          <p:cNvSpPr txBox="1">
            <a:spLocks noGrp="1"/>
          </p:cNvSpPr>
          <p:nvPr>
            <p:ph type="body" idx="4294967295"/>
          </p:nvPr>
        </p:nvSpPr>
        <p:spPr>
          <a:xfrm>
            <a:off x="310925" y="58142"/>
            <a:ext cx="2242800" cy="90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a:solidFill>
                  <a:srgbClr val="BF9000"/>
                </a:solidFill>
                <a:highlight>
                  <a:srgbClr val="FAFBFC"/>
                </a:highlight>
                <a:latin typeface="Oswald"/>
                <a:ea typeface="Oswald"/>
                <a:cs typeface="Oswald"/>
                <a:sym typeface="Oswald"/>
              </a:rPr>
              <a:t>Users choose their favourite food by pressing a button that shows up the list of restaurants with a variety of menus listed on DoorDash. Features such as search, nearby restaurants, making choices based on categories, also help the users for better sorting.</a:t>
            </a:r>
            <a:endParaRPr sz="1400">
              <a:solidFill>
                <a:srgbClr val="BF9000"/>
              </a:solidFill>
              <a:latin typeface="Oswald"/>
              <a:ea typeface="Oswald"/>
              <a:cs typeface="Oswald"/>
              <a:sym typeface="Oswald"/>
            </a:endParaRPr>
          </a:p>
        </p:txBody>
      </p:sp>
      <p:sp>
        <p:nvSpPr>
          <p:cNvPr id="120" name="Google Shape;120;p16" descr="Background pointer shape in timeline graphic"/>
          <p:cNvSpPr/>
          <p:nvPr/>
        </p:nvSpPr>
        <p:spPr>
          <a:xfrm>
            <a:off x="1817054" y="2199000"/>
            <a:ext cx="2051100" cy="745500"/>
          </a:xfrm>
          <a:prstGeom prst="chevron">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21" name="Google Shape;121;p16"/>
          <p:cNvSpPr txBox="1">
            <a:spLocks noGrp="1"/>
          </p:cNvSpPr>
          <p:nvPr>
            <p:ph type="body" idx="4294967295"/>
          </p:nvPr>
        </p:nvSpPr>
        <p:spPr>
          <a:xfrm>
            <a:off x="2126317" y="2336550"/>
            <a:ext cx="1315500"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600">
                <a:solidFill>
                  <a:schemeClr val="lt1"/>
                </a:solidFill>
                <a:latin typeface="Oswald"/>
                <a:ea typeface="Oswald"/>
                <a:cs typeface="Oswald"/>
                <a:sym typeface="Oswald"/>
              </a:rPr>
              <a:t>PAYMENT</a:t>
            </a:r>
            <a:endParaRPr sz="1600">
              <a:solidFill>
                <a:schemeClr val="lt1"/>
              </a:solidFill>
              <a:latin typeface="Oswald"/>
              <a:ea typeface="Oswald"/>
              <a:cs typeface="Oswald"/>
              <a:sym typeface="Oswald"/>
            </a:endParaRPr>
          </a:p>
        </p:txBody>
      </p:sp>
      <p:grpSp>
        <p:nvGrpSpPr>
          <p:cNvPr id="122" name="Google Shape;122;p16"/>
          <p:cNvGrpSpPr/>
          <p:nvPr/>
        </p:nvGrpSpPr>
        <p:grpSpPr>
          <a:xfrm>
            <a:off x="2684632" y="2938958"/>
            <a:ext cx="198900" cy="593656"/>
            <a:chOff x="2223534" y="2938958"/>
            <a:chExt cx="198900" cy="593656"/>
          </a:xfrm>
        </p:grpSpPr>
        <p:cxnSp>
          <p:nvCxnSpPr>
            <p:cNvPr id="123" name="Google Shape;123;p16"/>
            <p:cNvCxnSpPr/>
            <p:nvPr/>
          </p:nvCxnSpPr>
          <p:spPr>
            <a:xfrm rot="10800000">
              <a:off x="2322997" y="2938958"/>
              <a:ext cx="0" cy="554700"/>
            </a:xfrm>
            <a:prstGeom prst="straightConnector1">
              <a:avLst/>
            </a:prstGeom>
            <a:noFill/>
            <a:ln w="9525" cap="flat" cmpd="sng">
              <a:solidFill>
                <a:schemeClr val="dk2"/>
              </a:solidFill>
              <a:prstDash val="solid"/>
              <a:round/>
              <a:headEnd type="none" w="sm" len="sm"/>
              <a:tailEnd type="none" w="sm" len="sm"/>
            </a:ln>
          </p:spPr>
        </p:cxnSp>
        <p:sp>
          <p:nvSpPr>
            <p:cNvPr id="124" name="Google Shape;124;p16"/>
            <p:cNvSpPr/>
            <p:nvPr/>
          </p:nvSpPr>
          <p:spPr>
            <a:xfrm rot="10800000" flipH="1">
              <a:off x="2223534" y="3333714"/>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6"/>
          <p:cNvSpPr txBox="1">
            <a:spLocks noGrp="1"/>
          </p:cNvSpPr>
          <p:nvPr>
            <p:ph type="body" idx="4294967295"/>
          </p:nvPr>
        </p:nvSpPr>
        <p:spPr>
          <a:xfrm>
            <a:off x="1229187" y="3579075"/>
            <a:ext cx="2242800" cy="90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a:solidFill>
                  <a:srgbClr val="BF9000"/>
                </a:solidFill>
                <a:highlight>
                  <a:srgbClr val="FAFBFC"/>
                </a:highlight>
                <a:latin typeface="Oswald"/>
                <a:ea typeface="Oswald"/>
                <a:cs typeface="Oswald"/>
                <a:sym typeface="Oswald"/>
              </a:rPr>
              <a:t>Users make the required transactions after placing their orders online. Once the order has been received by DoorDash, it forwards it to the respective restaurant where it is prepared and packed for delivery</a:t>
            </a:r>
            <a:r>
              <a:rPr lang="en" sz="1350">
                <a:solidFill>
                  <a:srgbClr val="BF9000"/>
                </a:solidFill>
                <a:highlight>
                  <a:srgbClr val="FAFBFC"/>
                </a:highlight>
                <a:latin typeface="Oswald"/>
                <a:ea typeface="Oswald"/>
                <a:cs typeface="Oswald"/>
                <a:sym typeface="Oswald"/>
              </a:rPr>
              <a:t>.</a:t>
            </a:r>
            <a:endParaRPr sz="1600">
              <a:solidFill>
                <a:srgbClr val="BF9000"/>
              </a:solidFill>
              <a:latin typeface="Oswald"/>
              <a:ea typeface="Oswald"/>
              <a:cs typeface="Oswald"/>
              <a:sym typeface="Oswald"/>
            </a:endParaRPr>
          </a:p>
        </p:txBody>
      </p:sp>
      <p:sp>
        <p:nvSpPr>
          <p:cNvPr id="126" name="Google Shape;126;p16" descr="Background pointer shape in timeline graphic"/>
          <p:cNvSpPr/>
          <p:nvPr/>
        </p:nvSpPr>
        <p:spPr>
          <a:xfrm>
            <a:off x="3471973" y="2199000"/>
            <a:ext cx="2051100" cy="745500"/>
          </a:xfrm>
          <a:prstGeom prst="chevron">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27" name="Google Shape;127;p16"/>
          <p:cNvSpPr txBox="1">
            <a:spLocks noGrp="1"/>
          </p:cNvSpPr>
          <p:nvPr>
            <p:ph type="body" idx="4294967295"/>
          </p:nvPr>
        </p:nvSpPr>
        <p:spPr>
          <a:xfrm>
            <a:off x="3767755" y="2336550"/>
            <a:ext cx="1315500"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600">
                <a:solidFill>
                  <a:schemeClr val="lt1"/>
                </a:solidFill>
                <a:latin typeface="Oswald"/>
                <a:ea typeface="Oswald"/>
                <a:cs typeface="Oswald"/>
                <a:sym typeface="Oswald"/>
              </a:rPr>
              <a:t>DELIVERY PEOPLE</a:t>
            </a:r>
            <a:endParaRPr sz="1600">
              <a:solidFill>
                <a:schemeClr val="lt1"/>
              </a:solidFill>
              <a:latin typeface="Oswald"/>
              <a:ea typeface="Oswald"/>
              <a:cs typeface="Oswald"/>
              <a:sym typeface="Oswald"/>
            </a:endParaRPr>
          </a:p>
          <a:p>
            <a:pPr marL="0" lvl="0" indent="0" algn="ctr" rtl="0">
              <a:lnSpc>
                <a:spcPct val="100000"/>
              </a:lnSpc>
              <a:spcBef>
                <a:spcPts val="0"/>
              </a:spcBef>
              <a:spcAft>
                <a:spcPts val="0"/>
              </a:spcAft>
              <a:buNone/>
            </a:pPr>
            <a:r>
              <a:rPr lang="en" sz="1600">
                <a:solidFill>
                  <a:schemeClr val="lt1"/>
                </a:solidFill>
                <a:latin typeface="Oswald"/>
                <a:ea typeface="Oswald"/>
                <a:cs typeface="Oswald"/>
                <a:sym typeface="Oswald"/>
              </a:rPr>
              <a:t>ASSIGNED</a:t>
            </a:r>
            <a:endParaRPr sz="1600">
              <a:solidFill>
                <a:schemeClr val="lt1"/>
              </a:solidFill>
              <a:latin typeface="Oswald"/>
              <a:ea typeface="Oswald"/>
              <a:cs typeface="Oswald"/>
              <a:sym typeface="Oswald"/>
            </a:endParaRPr>
          </a:p>
        </p:txBody>
      </p:sp>
      <p:grpSp>
        <p:nvGrpSpPr>
          <p:cNvPr id="128" name="Google Shape;128;p16"/>
          <p:cNvGrpSpPr/>
          <p:nvPr/>
        </p:nvGrpSpPr>
        <p:grpSpPr>
          <a:xfrm>
            <a:off x="4319545" y="1610215"/>
            <a:ext cx="198900" cy="593656"/>
            <a:chOff x="3918084" y="1610215"/>
            <a:chExt cx="198900" cy="593656"/>
          </a:xfrm>
        </p:grpSpPr>
        <p:cxnSp>
          <p:nvCxnSpPr>
            <p:cNvPr id="129" name="Google Shape;129;p16"/>
            <p:cNvCxnSpPr/>
            <p:nvPr/>
          </p:nvCxnSpPr>
          <p:spPr>
            <a:xfrm>
              <a:off x="4017546" y="1649171"/>
              <a:ext cx="0" cy="554700"/>
            </a:xfrm>
            <a:prstGeom prst="straightConnector1">
              <a:avLst/>
            </a:prstGeom>
            <a:noFill/>
            <a:ln w="9525" cap="flat" cmpd="sng">
              <a:solidFill>
                <a:schemeClr val="dk2"/>
              </a:solidFill>
              <a:prstDash val="solid"/>
              <a:round/>
              <a:headEnd type="none" w="sm" len="sm"/>
              <a:tailEnd type="none" w="sm" len="sm"/>
            </a:ln>
          </p:spPr>
        </p:cxnSp>
        <p:sp>
          <p:nvSpPr>
            <p:cNvPr id="130" name="Google Shape;130;p16"/>
            <p:cNvSpPr/>
            <p:nvPr/>
          </p:nvSpPr>
          <p:spPr>
            <a:xfrm>
              <a:off x="3918084" y="1610215"/>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16"/>
          <p:cNvSpPr txBox="1">
            <a:spLocks noGrp="1"/>
          </p:cNvSpPr>
          <p:nvPr>
            <p:ph type="body" idx="4294967295"/>
          </p:nvPr>
        </p:nvSpPr>
        <p:spPr>
          <a:xfrm>
            <a:off x="3304094" y="385667"/>
            <a:ext cx="2242800" cy="90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a:solidFill>
                  <a:srgbClr val="BF9000"/>
                </a:solidFill>
                <a:latin typeface="Oswald"/>
                <a:ea typeface="Oswald"/>
                <a:cs typeface="Oswald"/>
                <a:sym typeface="Oswald"/>
              </a:rPr>
              <a:t>Delivery people are assigned to deliveries based on an algorithm that considers factors such as deliver person’s location , availability &amp; prior delivery performance.</a:t>
            </a:r>
            <a:endParaRPr sz="1150">
              <a:solidFill>
                <a:srgbClr val="BF9000"/>
              </a:solidFill>
              <a:latin typeface="Oswald"/>
              <a:ea typeface="Oswald"/>
              <a:cs typeface="Oswald"/>
              <a:sym typeface="Oswald"/>
            </a:endParaRPr>
          </a:p>
        </p:txBody>
      </p:sp>
      <p:sp>
        <p:nvSpPr>
          <p:cNvPr id="132" name="Google Shape;132;p16" descr="Background pointer shape in timeline graphic"/>
          <p:cNvSpPr/>
          <p:nvPr/>
        </p:nvSpPr>
        <p:spPr>
          <a:xfrm>
            <a:off x="5126893" y="2199000"/>
            <a:ext cx="2051100" cy="745500"/>
          </a:xfrm>
          <a:prstGeom prst="chevron">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33" name="Google Shape;133;p16"/>
          <p:cNvSpPr txBox="1">
            <a:spLocks noGrp="1"/>
          </p:cNvSpPr>
          <p:nvPr>
            <p:ph type="body" idx="4294967295"/>
          </p:nvPr>
        </p:nvSpPr>
        <p:spPr>
          <a:xfrm>
            <a:off x="5416699" y="2336550"/>
            <a:ext cx="1315500"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600">
                <a:solidFill>
                  <a:schemeClr val="lt1"/>
                </a:solidFill>
                <a:latin typeface="Oswald"/>
                <a:ea typeface="Oswald"/>
                <a:cs typeface="Oswald"/>
                <a:sym typeface="Oswald"/>
              </a:rPr>
              <a:t>TRACKING AN ORDER</a:t>
            </a:r>
            <a:endParaRPr sz="1600">
              <a:solidFill>
                <a:schemeClr val="lt1"/>
              </a:solidFill>
              <a:latin typeface="Oswald"/>
              <a:ea typeface="Oswald"/>
              <a:cs typeface="Oswald"/>
              <a:sym typeface="Oswald"/>
            </a:endParaRPr>
          </a:p>
        </p:txBody>
      </p:sp>
      <p:grpSp>
        <p:nvGrpSpPr>
          <p:cNvPr id="134" name="Google Shape;134;p16"/>
          <p:cNvGrpSpPr/>
          <p:nvPr/>
        </p:nvGrpSpPr>
        <p:grpSpPr>
          <a:xfrm>
            <a:off x="5973070" y="2938958"/>
            <a:ext cx="198900" cy="593656"/>
            <a:chOff x="5958946" y="2938958"/>
            <a:chExt cx="198900" cy="593656"/>
          </a:xfrm>
        </p:grpSpPr>
        <p:cxnSp>
          <p:nvCxnSpPr>
            <p:cNvPr id="135" name="Google Shape;135;p16"/>
            <p:cNvCxnSpPr/>
            <p:nvPr/>
          </p:nvCxnSpPr>
          <p:spPr>
            <a:xfrm rot="10800000">
              <a:off x="6058409" y="2938958"/>
              <a:ext cx="0" cy="554700"/>
            </a:xfrm>
            <a:prstGeom prst="straightConnector1">
              <a:avLst/>
            </a:prstGeom>
            <a:noFill/>
            <a:ln w="9525" cap="flat" cmpd="sng">
              <a:solidFill>
                <a:schemeClr val="dk2"/>
              </a:solidFill>
              <a:prstDash val="solid"/>
              <a:round/>
              <a:headEnd type="none" w="sm" len="sm"/>
              <a:tailEnd type="none" w="sm" len="sm"/>
            </a:ln>
          </p:spPr>
        </p:cxnSp>
        <p:sp>
          <p:nvSpPr>
            <p:cNvPr id="136" name="Google Shape;136;p16"/>
            <p:cNvSpPr/>
            <p:nvPr/>
          </p:nvSpPr>
          <p:spPr>
            <a:xfrm rot="10800000" flipH="1">
              <a:off x="5958946" y="3333714"/>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6"/>
          <p:cNvSpPr txBox="1">
            <a:spLocks noGrp="1"/>
          </p:cNvSpPr>
          <p:nvPr>
            <p:ph type="body" idx="4294967295"/>
          </p:nvPr>
        </p:nvSpPr>
        <p:spPr>
          <a:xfrm>
            <a:off x="5126902" y="3664625"/>
            <a:ext cx="2242800" cy="90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a:solidFill>
                  <a:srgbClr val="BF9000"/>
                </a:solidFill>
                <a:highlight>
                  <a:srgbClr val="FAFBFC"/>
                </a:highlight>
                <a:latin typeface="Oswald"/>
                <a:ea typeface="Oswald"/>
                <a:cs typeface="Oswald"/>
                <a:sym typeface="Oswald"/>
              </a:rPr>
              <a:t>The delivery person picks up the packed food order from the respective restaurant. DoorDash provides the facility to track the food location so as to have an estimate of the time of delivery.</a:t>
            </a:r>
            <a:endParaRPr sz="1150">
              <a:solidFill>
                <a:srgbClr val="BF9000"/>
              </a:solidFill>
              <a:latin typeface="Oswald"/>
              <a:ea typeface="Oswald"/>
              <a:cs typeface="Oswald"/>
              <a:sym typeface="Oswald"/>
            </a:endParaRPr>
          </a:p>
        </p:txBody>
      </p:sp>
      <p:sp>
        <p:nvSpPr>
          <p:cNvPr id="138" name="Google Shape;138;p16" descr="Background pointer shape in timeline graphic"/>
          <p:cNvSpPr/>
          <p:nvPr/>
        </p:nvSpPr>
        <p:spPr>
          <a:xfrm>
            <a:off x="6781813" y="2199000"/>
            <a:ext cx="2051100" cy="745500"/>
          </a:xfrm>
          <a:prstGeom prst="chevron">
            <a:avLst>
              <a:gd name="adj" fmla="val 50000"/>
            </a:avLst>
          </a:prstGeom>
          <a:solidFill>
            <a:schemeClr val="dk1"/>
          </a:solidFill>
          <a:ln w="9525"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39" name="Google Shape;139;p16"/>
          <p:cNvSpPr txBox="1">
            <a:spLocks noGrp="1"/>
          </p:cNvSpPr>
          <p:nvPr>
            <p:ph type="body" idx="4294967295"/>
          </p:nvPr>
        </p:nvSpPr>
        <p:spPr>
          <a:xfrm>
            <a:off x="7111512" y="2336550"/>
            <a:ext cx="1315500" cy="4704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600">
                <a:solidFill>
                  <a:schemeClr val="lt1"/>
                </a:solidFill>
                <a:latin typeface="Oswald"/>
                <a:ea typeface="Oswald"/>
                <a:cs typeface="Oswald"/>
                <a:sym typeface="Oswald"/>
              </a:rPr>
              <a:t>DELIVERY</a:t>
            </a:r>
            <a:endParaRPr sz="1600">
              <a:solidFill>
                <a:schemeClr val="lt1"/>
              </a:solidFill>
              <a:latin typeface="Oswald"/>
              <a:ea typeface="Oswald"/>
              <a:cs typeface="Oswald"/>
              <a:sym typeface="Oswald"/>
            </a:endParaRPr>
          </a:p>
        </p:txBody>
      </p:sp>
      <p:grpSp>
        <p:nvGrpSpPr>
          <p:cNvPr id="140" name="Google Shape;140;p16"/>
          <p:cNvGrpSpPr/>
          <p:nvPr/>
        </p:nvGrpSpPr>
        <p:grpSpPr>
          <a:xfrm>
            <a:off x="7669807" y="1610215"/>
            <a:ext cx="198900" cy="593656"/>
            <a:chOff x="3918084" y="1610215"/>
            <a:chExt cx="198900" cy="593656"/>
          </a:xfrm>
        </p:grpSpPr>
        <p:cxnSp>
          <p:nvCxnSpPr>
            <p:cNvPr id="141" name="Google Shape;141;p16"/>
            <p:cNvCxnSpPr/>
            <p:nvPr/>
          </p:nvCxnSpPr>
          <p:spPr>
            <a:xfrm>
              <a:off x="4017546" y="1649171"/>
              <a:ext cx="0" cy="554700"/>
            </a:xfrm>
            <a:prstGeom prst="straightConnector1">
              <a:avLst/>
            </a:prstGeom>
            <a:noFill/>
            <a:ln w="9525" cap="flat" cmpd="sng">
              <a:solidFill>
                <a:schemeClr val="dk2"/>
              </a:solidFill>
              <a:prstDash val="solid"/>
              <a:round/>
              <a:headEnd type="none" w="sm" len="sm"/>
              <a:tailEnd type="none" w="sm" len="sm"/>
            </a:ln>
          </p:spPr>
        </p:cxnSp>
        <p:sp>
          <p:nvSpPr>
            <p:cNvPr id="142" name="Google Shape;142;p16"/>
            <p:cNvSpPr/>
            <p:nvPr/>
          </p:nvSpPr>
          <p:spPr>
            <a:xfrm>
              <a:off x="3918084" y="1610215"/>
              <a:ext cx="198900" cy="198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16"/>
          <p:cNvSpPr txBox="1">
            <a:spLocks noGrp="1"/>
          </p:cNvSpPr>
          <p:nvPr>
            <p:ph type="body" idx="4294967295"/>
          </p:nvPr>
        </p:nvSpPr>
        <p:spPr>
          <a:xfrm>
            <a:off x="6685979" y="385667"/>
            <a:ext cx="2242800" cy="90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a:solidFill>
                  <a:srgbClr val="BF9000"/>
                </a:solidFill>
                <a:highlight>
                  <a:srgbClr val="FAFBFC"/>
                </a:highlight>
                <a:latin typeface="Oswald"/>
                <a:ea typeface="Oswald"/>
                <a:cs typeface="Oswald"/>
                <a:sym typeface="Oswald"/>
              </a:rPr>
              <a:t>The dashers try to make shorten the delivery period as much as is practical. The customers, although not necessarily but usually tip the dashers, the dashers get to keep 100% of the tip received.</a:t>
            </a:r>
            <a:endParaRPr sz="1150">
              <a:solidFill>
                <a:srgbClr val="BF9000"/>
              </a:solidFill>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119"/>
                                        </p:tgtEl>
                                        <p:attrNameLst>
                                          <p:attrName>style.visibility</p:attrName>
                                        </p:attrNameLst>
                                      </p:cBhvr>
                                      <p:to>
                                        <p:strVal val="visible"/>
                                      </p:to>
                                    </p:set>
                                    <p:anim calcmode="lin" valueType="num">
                                      <p:cBhvr additive="base">
                                        <p:cTn id="12" dur="1000"/>
                                        <p:tgtEl>
                                          <p:spTgt spid="11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fade">
                                      <p:cBhvr>
                                        <p:cTn id="17" dur="1000"/>
                                        <p:tgtEl>
                                          <p:spTgt spid="12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5"/>
                                        </p:tgtEl>
                                        <p:attrNameLst>
                                          <p:attrName>style.visibility</p:attrName>
                                        </p:attrNameLst>
                                      </p:cBhvr>
                                      <p:to>
                                        <p:strVal val="visible"/>
                                      </p:to>
                                    </p:set>
                                    <p:anim calcmode="lin" valueType="num">
                                      <p:cBhvr additive="base">
                                        <p:cTn id="22" dur="1000"/>
                                        <p:tgtEl>
                                          <p:spTgt spid="12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7"/>
                                        </p:tgtEl>
                                        <p:attrNameLst>
                                          <p:attrName>style.visibility</p:attrName>
                                        </p:attrNameLst>
                                      </p:cBhvr>
                                      <p:to>
                                        <p:strVal val="visible"/>
                                      </p:to>
                                    </p:set>
                                    <p:animEffect transition="in" filter="fade">
                                      <p:cBhvr>
                                        <p:cTn id="27" dur="1000"/>
                                        <p:tgtEl>
                                          <p:spTgt spid="12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1" fill="hold" nodeType="clickEffect">
                                  <p:stCondLst>
                                    <p:cond delay="0"/>
                                  </p:stCondLst>
                                  <p:childTnLst>
                                    <p:set>
                                      <p:cBhvr>
                                        <p:cTn id="31" dur="1" fill="hold">
                                          <p:stCondLst>
                                            <p:cond delay="0"/>
                                          </p:stCondLst>
                                        </p:cTn>
                                        <p:tgtEl>
                                          <p:spTgt spid="131"/>
                                        </p:tgtEl>
                                        <p:attrNameLst>
                                          <p:attrName>style.visibility</p:attrName>
                                        </p:attrNameLst>
                                      </p:cBhvr>
                                      <p:to>
                                        <p:strVal val="visible"/>
                                      </p:to>
                                    </p:set>
                                    <p:anim calcmode="lin" valueType="num">
                                      <p:cBhvr additive="base">
                                        <p:cTn id="32" dur="1000"/>
                                        <p:tgtEl>
                                          <p:spTgt spid="131"/>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3"/>
                                        </p:tgtEl>
                                        <p:attrNameLst>
                                          <p:attrName>style.visibility</p:attrName>
                                        </p:attrNameLst>
                                      </p:cBhvr>
                                      <p:to>
                                        <p:strVal val="visible"/>
                                      </p:to>
                                    </p:set>
                                    <p:animEffect transition="in" filter="fade">
                                      <p:cBhvr>
                                        <p:cTn id="37" dur="1000"/>
                                        <p:tgtEl>
                                          <p:spTgt spid="133"/>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37"/>
                                        </p:tgtEl>
                                        <p:attrNameLst>
                                          <p:attrName>style.visibility</p:attrName>
                                        </p:attrNameLst>
                                      </p:cBhvr>
                                      <p:to>
                                        <p:strVal val="visible"/>
                                      </p:to>
                                    </p:set>
                                    <p:anim calcmode="lin" valueType="num">
                                      <p:cBhvr additive="base">
                                        <p:cTn id="42" dur="1000"/>
                                        <p:tgtEl>
                                          <p:spTgt spid="13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9"/>
                                        </p:tgtEl>
                                        <p:attrNameLst>
                                          <p:attrName>style.visibility</p:attrName>
                                        </p:attrNameLst>
                                      </p:cBhvr>
                                      <p:to>
                                        <p:strVal val="visible"/>
                                      </p:to>
                                    </p:set>
                                    <p:animEffect transition="in" filter="fade">
                                      <p:cBhvr>
                                        <p:cTn id="47" dur="1000"/>
                                        <p:tgtEl>
                                          <p:spTgt spid="139"/>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nodeType="clickEffect">
                                  <p:stCondLst>
                                    <p:cond delay="0"/>
                                  </p:stCondLst>
                                  <p:childTnLst>
                                    <p:set>
                                      <p:cBhvr>
                                        <p:cTn id="51" dur="1" fill="hold">
                                          <p:stCondLst>
                                            <p:cond delay="0"/>
                                          </p:stCondLst>
                                        </p:cTn>
                                        <p:tgtEl>
                                          <p:spTgt spid="143"/>
                                        </p:tgtEl>
                                        <p:attrNameLst>
                                          <p:attrName>style.visibility</p:attrName>
                                        </p:attrNameLst>
                                      </p:cBhvr>
                                      <p:to>
                                        <p:strVal val="visible"/>
                                      </p:to>
                                    </p:set>
                                    <p:anim calcmode="lin" valueType="num">
                                      <p:cBhvr additive="base">
                                        <p:cTn id="52" dur="1000"/>
                                        <p:tgtEl>
                                          <p:spTgt spid="1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Oswald"/>
                <a:ea typeface="Oswald"/>
                <a:cs typeface="Oswald"/>
                <a:sym typeface="Oswald"/>
              </a:rPr>
              <a:t>BUSINESS MODEL</a:t>
            </a:r>
            <a:r>
              <a:rPr lang="en"/>
              <a:t> </a:t>
            </a:r>
            <a:endParaRPr/>
          </a:p>
        </p:txBody>
      </p:sp>
      <p:sp>
        <p:nvSpPr>
          <p:cNvPr id="149" name="Google Shape;149;p17"/>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swald"/>
                <a:ea typeface="Oswald"/>
                <a:cs typeface="Oswald"/>
                <a:sym typeface="Oswald"/>
              </a:rPr>
              <a:t> </a:t>
            </a:r>
            <a:endParaRPr>
              <a:latin typeface="Oswald"/>
              <a:ea typeface="Oswald"/>
              <a:cs typeface="Oswald"/>
              <a:sym typeface="Oswald"/>
            </a:endParaRPr>
          </a:p>
          <a:p>
            <a:pPr marL="0" lvl="0" indent="0" algn="ctr" rtl="0">
              <a:spcBef>
                <a:spcPts val="0"/>
              </a:spcBef>
              <a:spcAft>
                <a:spcPts val="0"/>
              </a:spcAft>
              <a:buNone/>
            </a:pPr>
            <a:r>
              <a:rPr lang="en" sz="3000">
                <a:solidFill>
                  <a:srgbClr val="BF9000"/>
                </a:solidFill>
                <a:latin typeface="Oswald"/>
                <a:ea typeface="Oswald"/>
                <a:cs typeface="Oswald"/>
                <a:sym typeface="Oswald"/>
              </a:rPr>
              <a:t>DOORDASH</a:t>
            </a:r>
            <a:endParaRPr sz="3000">
              <a:solidFill>
                <a:srgbClr val="BF9000"/>
              </a:solidFill>
              <a:latin typeface="Oswald"/>
              <a:ea typeface="Oswald"/>
              <a:cs typeface="Oswald"/>
              <a:sym typeface="Oswald"/>
            </a:endParaRPr>
          </a:p>
        </p:txBody>
      </p:sp>
      <p:pic>
        <p:nvPicPr>
          <p:cNvPr id="150" name="Google Shape;150;p17"/>
          <p:cNvPicPr preferRelativeResize="0"/>
          <p:nvPr/>
        </p:nvPicPr>
        <p:blipFill>
          <a:blip r:embed="rId3">
            <a:alphaModFix/>
          </a:blip>
          <a:stretch>
            <a:fillRect/>
          </a:stretch>
        </p:blipFill>
        <p:spPr>
          <a:xfrm>
            <a:off x="4572000" y="0"/>
            <a:ext cx="4571999" cy="51434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 calcmode="lin" valueType="num">
                                      <p:cBhvr additive="base">
                                        <p:cTn id="7" dur="1000"/>
                                        <p:tgtEl>
                                          <p:spTgt spid="14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49"/>
                                        </p:tgtEl>
                                        <p:attrNameLst>
                                          <p:attrName>style.visibility</p:attrName>
                                        </p:attrNameLst>
                                      </p:cBhvr>
                                      <p:to>
                                        <p:strVal val="visible"/>
                                      </p:to>
                                    </p:set>
                                    <p:anim calcmode="lin" valueType="num">
                                      <p:cBhvr additive="base">
                                        <p:cTn id="12" dur="1000"/>
                                        <p:tgtEl>
                                          <p:spTgt spid="14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0"/>
                                        </p:tgtEl>
                                        <p:attrNameLst>
                                          <p:attrName>style.visibility</p:attrName>
                                        </p:attrNameLst>
                                      </p:cBhvr>
                                      <p:to>
                                        <p:strVal val="visible"/>
                                      </p:to>
                                    </p:set>
                                    <p:animEffect transition="in" filter="fade">
                                      <p:cBhvr>
                                        <p:cTn id="17" dur="10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a:spLocks noGrp="1"/>
          </p:cNvSpPr>
          <p:nvPr>
            <p:ph type="title"/>
          </p:nvPr>
        </p:nvSpPr>
        <p:spPr>
          <a:xfrm>
            <a:off x="389850" y="284472"/>
            <a:ext cx="8222100" cy="83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Oswald"/>
                <a:ea typeface="Oswald"/>
                <a:cs typeface="Oswald"/>
                <a:sym typeface="Oswald"/>
              </a:rPr>
              <a:t>MOTIVATION &amp; SUCCESS STORY</a:t>
            </a:r>
            <a:endParaRPr>
              <a:latin typeface="Oswald"/>
              <a:ea typeface="Oswald"/>
              <a:cs typeface="Oswald"/>
              <a:sym typeface="Oswald"/>
            </a:endParaRPr>
          </a:p>
          <a:p>
            <a:pPr marL="0" lvl="0" indent="0" algn="l" rtl="0">
              <a:spcBef>
                <a:spcPts val="0"/>
              </a:spcBef>
              <a:spcAft>
                <a:spcPts val="0"/>
              </a:spcAft>
              <a:buNone/>
            </a:pPr>
            <a:endParaRPr>
              <a:latin typeface="Oswald"/>
              <a:ea typeface="Oswald"/>
              <a:cs typeface="Oswald"/>
              <a:sym typeface="Oswald"/>
            </a:endParaRPr>
          </a:p>
        </p:txBody>
      </p:sp>
      <p:sp>
        <p:nvSpPr>
          <p:cNvPr id="156" name="Google Shape;156;p18"/>
          <p:cNvSpPr txBox="1"/>
          <p:nvPr/>
        </p:nvSpPr>
        <p:spPr>
          <a:xfrm>
            <a:off x="0" y="718725"/>
            <a:ext cx="9001800" cy="486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i="1" u="sng">
                <a:solidFill>
                  <a:srgbClr val="FAFBFC"/>
                </a:solidFill>
                <a:highlight>
                  <a:schemeClr val="dk1"/>
                </a:highlight>
                <a:latin typeface="Oswald"/>
                <a:ea typeface="Oswald"/>
                <a:cs typeface="Oswald"/>
                <a:sym typeface="Oswald"/>
              </a:rPr>
              <a:t>Meeting a need:</a:t>
            </a:r>
            <a:r>
              <a:rPr lang="en">
                <a:solidFill>
                  <a:srgbClr val="BF9000"/>
                </a:solidFill>
                <a:highlight>
                  <a:schemeClr val="dk1"/>
                </a:highlight>
                <a:latin typeface="Oswald"/>
                <a:ea typeface="Oswald"/>
                <a:cs typeface="Oswald"/>
                <a:sym typeface="Oswald"/>
              </a:rPr>
              <a:t> DoorDash was founded in 2013 in response to the growing demand for food delivery services. The company saw an opportunity to make it easier for people to get their favorite meals delivered to their doorsteps.​</a:t>
            </a: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endParaRPr>
              <a:solidFill>
                <a:srgbClr val="FAFBFC"/>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r>
              <a:rPr lang="en" b="1" i="1" u="sng">
                <a:solidFill>
                  <a:srgbClr val="FAFBFC"/>
                </a:solidFill>
                <a:highlight>
                  <a:schemeClr val="dk1"/>
                </a:highlight>
                <a:latin typeface="Oswald"/>
                <a:ea typeface="Oswald"/>
                <a:cs typeface="Oswald"/>
                <a:sym typeface="Oswald"/>
              </a:rPr>
              <a:t>Innovation:</a:t>
            </a:r>
            <a:r>
              <a:rPr lang="en">
                <a:solidFill>
                  <a:srgbClr val="BF9000"/>
                </a:solidFill>
                <a:highlight>
                  <a:schemeClr val="dk1"/>
                </a:highlight>
                <a:latin typeface="Oswald"/>
                <a:ea typeface="Oswald"/>
                <a:cs typeface="Oswald"/>
                <a:sym typeface="Oswald"/>
              </a:rPr>
              <a:t> DoorDash used technology to create a seamless ordering and delivery experience for customers. Its mobile app and website allow customers to order food from local restaurants with just a few taps.</a:t>
            </a: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r>
              <a:rPr lang="en">
                <a:solidFill>
                  <a:srgbClr val="BF9000"/>
                </a:solidFill>
                <a:highlight>
                  <a:schemeClr val="dk1"/>
                </a:highlight>
                <a:latin typeface="Oswald"/>
                <a:ea typeface="Oswald"/>
                <a:cs typeface="Oswald"/>
                <a:sym typeface="Oswald"/>
              </a:rPr>
              <a:t>​</a:t>
            </a: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r>
              <a:rPr lang="en" b="1" i="1" u="sng">
                <a:solidFill>
                  <a:srgbClr val="FAFBFC"/>
                </a:solidFill>
                <a:highlight>
                  <a:schemeClr val="dk1"/>
                </a:highlight>
                <a:latin typeface="Oswald"/>
                <a:ea typeface="Oswald"/>
                <a:cs typeface="Oswald"/>
                <a:sym typeface="Oswald"/>
              </a:rPr>
              <a:t>Expansion:</a:t>
            </a:r>
            <a:r>
              <a:rPr lang="en">
                <a:solidFill>
                  <a:srgbClr val="BF9000"/>
                </a:solidFill>
                <a:highlight>
                  <a:schemeClr val="dk1"/>
                </a:highlight>
                <a:latin typeface="Oswald"/>
                <a:ea typeface="Oswald"/>
                <a:cs typeface="Oswald"/>
                <a:sym typeface="Oswald"/>
              </a:rPr>
              <a:t> DoorDash quickly expanded its operations to cities across the United States, Canada, and Australia, and has become one of the largest food delivery companies in the world.</a:t>
            </a: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r>
              <a:rPr lang="en">
                <a:solidFill>
                  <a:srgbClr val="FAFBFC"/>
                </a:solidFill>
                <a:highlight>
                  <a:schemeClr val="dk1"/>
                </a:highlight>
                <a:latin typeface="Oswald"/>
                <a:ea typeface="Oswald"/>
                <a:cs typeface="Oswald"/>
                <a:sym typeface="Oswald"/>
              </a:rPr>
              <a:t>​</a:t>
            </a:r>
            <a:endParaRPr>
              <a:solidFill>
                <a:srgbClr val="FAFBFC"/>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r>
              <a:rPr lang="en" b="1" i="1" u="sng">
                <a:solidFill>
                  <a:srgbClr val="FAFBFC"/>
                </a:solidFill>
                <a:highlight>
                  <a:schemeClr val="dk1"/>
                </a:highlight>
                <a:latin typeface="Oswald"/>
                <a:ea typeface="Oswald"/>
                <a:cs typeface="Oswald"/>
                <a:sym typeface="Oswald"/>
              </a:rPr>
              <a:t>Building a community:</a:t>
            </a:r>
            <a:r>
              <a:rPr lang="en">
                <a:solidFill>
                  <a:srgbClr val="FAFBFC"/>
                </a:solidFill>
                <a:highlight>
                  <a:schemeClr val="dk1"/>
                </a:highlight>
                <a:latin typeface="Oswald"/>
                <a:ea typeface="Oswald"/>
                <a:cs typeface="Oswald"/>
                <a:sym typeface="Oswald"/>
              </a:rPr>
              <a:t> </a:t>
            </a:r>
            <a:r>
              <a:rPr lang="en">
                <a:solidFill>
                  <a:srgbClr val="BF9000"/>
                </a:solidFill>
                <a:highlight>
                  <a:schemeClr val="dk1"/>
                </a:highlight>
                <a:latin typeface="Oswald"/>
                <a:ea typeface="Oswald"/>
                <a:cs typeface="Oswald"/>
                <a:sym typeface="Oswald"/>
              </a:rPr>
              <a:t>DoorDash has built a community of delivery workers, called Dashers, who help bring food to customers. The company has also established partnerships with hundreds of thousands of restaurants, helping them reach new customers and grow their businesses.​</a:t>
            </a: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r>
              <a:rPr lang="en" b="1" i="1" u="sng">
                <a:solidFill>
                  <a:srgbClr val="FAFBFC"/>
                </a:solidFill>
                <a:highlight>
                  <a:schemeClr val="dk1"/>
                </a:highlight>
                <a:latin typeface="Oswald"/>
                <a:ea typeface="Oswald"/>
                <a:cs typeface="Oswald"/>
                <a:sym typeface="Oswald"/>
              </a:rPr>
              <a:t>Improving the delivery experience:</a:t>
            </a:r>
            <a:r>
              <a:rPr lang="en">
                <a:solidFill>
                  <a:srgbClr val="BF9000"/>
                </a:solidFill>
                <a:highlight>
                  <a:schemeClr val="dk1"/>
                </a:highlight>
                <a:latin typeface="Oswald"/>
                <a:ea typeface="Oswald"/>
                <a:cs typeface="Oswald"/>
                <a:sym typeface="Oswald"/>
              </a:rPr>
              <a:t> DoorDash continues to invest in technology and innovations to improve the delivery experience for customers and delivery workers. For example, the company has introduced in-app tipping and real-time earnings tracking for Dashers.</a:t>
            </a: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endParaRPr>
              <a:solidFill>
                <a:srgbClr val="BF9000"/>
              </a:solidFill>
              <a:highlight>
                <a:schemeClr val="dk1"/>
              </a:highlight>
              <a:latin typeface="Oswald"/>
              <a:ea typeface="Oswald"/>
              <a:cs typeface="Oswald"/>
              <a:sym typeface="Oswald"/>
            </a:endParaRPr>
          </a:p>
          <a:p>
            <a:pPr marL="0" lvl="0" indent="0" algn="l" rtl="0">
              <a:lnSpc>
                <a:spcPct val="115000"/>
              </a:lnSpc>
              <a:spcBef>
                <a:spcPts val="0"/>
              </a:spcBef>
              <a:spcAft>
                <a:spcPts val="0"/>
              </a:spcAft>
              <a:buNone/>
            </a:pPr>
            <a:r>
              <a:rPr lang="en">
                <a:solidFill>
                  <a:srgbClr val="BF9000"/>
                </a:solidFill>
                <a:highlight>
                  <a:schemeClr val="dk1"/>
                </a:highlight>
                <a:latin typeface="Oswald"/>
                <a:ea typeface="Oswald"/>
                <a:cs typeface="Oswald"/>
                <a:sym typeface="Oswald"/>
              </a:rPr>
              <a:t>     </a:t>
            </a:r>
            <a:endParaRPr>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endParaRPr>
              <a:solidFill>
                <a:srgbClr val="BF9000"/>
              </a:solidFill>
              <a:highlight>
                <a:schemeClr val="dk1"/>
              </a:highlight>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 calcmode="lin" valueType="num">
                                      <p:cBhvr additive="base">
                                        <p:cTn id="7" dur="1000"/>
                                        <p:tgtEl>
                                          <p:spTgt spid="155"/>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 calcmode="lin" valueType="num">
                                      <p:cBhvr additive="base">
                                        <p:cTn id="12" dur="1000"/>
                                        <p:tgtEl>
                                          <p:spTgt spid="15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56">
                                            <p:txEl>
                                              <p:pRg st="1" end="1"/>
                                            </p:txEl>
                                          </p:spTgt>
                                        </p:tgtEl>
                                        <p:attrNameLst>
                                          <p:attrName>style.visibility</p:attrName>
                                        </p:attrNameLst>
                                      </p:cBhvr>
                                      <p:to>
                                        <p:strVal val="visible"/>
                                      </p:to>
                                    </p:set>
                                    <p:anim calcmode="lin" valueType="num">
                                      <p:cBhvr additive="base">
                                        <p:cTn id="17" dur="1000"/>
                                        <p:tgtEl>
                                          <p:spTgt spid="15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56">
                                            <p:txEl>
                                              <p:pRg st="2" end="2"/>
                                            </p:txEl>
                                          </p:spTgt>
                                        </p:tgtEl>
                                        <p:attrNameLst>
                                          <p:attrName>style.visibility</p:attrName>
                                        </p:attrNameLst>
                                      </p:cBhvr>
                                      <p:to>
                                        <p:strVal val="visible"/>
                                      </p:to>
                                    </p:set>
                                    <p:anim calcmode="lin" valueType="num">
                                      <p:cBhvr additive="base">
                                        <p:cTn id="22" dur="1000"/>
                                        <p:tgtEl>
                                          <p:spTgt spid="15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56">
                                            <p:txEl>
                                              <p:pRg st="3" end="3"/>
                                            </p:txEl>
                                          </p:spTgt>
                                        </p:tgtEl>
                                        <p:attrNameLst>
                                          <p:attrName>style.visibility</p:attrName>
                                        </p:attrNameLst>
                                      </p:cBhvr>
                                      <p:to>
                                        <p:strVal val="visible"/>
                                      </p:to>
                                    </p:set>
                                    <p:anim calcmode="lin" valueType="num">
                                      <p:cBhvr additive="base">
                                        <p:cTn id="27" dur="1000"/>
                                        <p:tgtEl>
                                          <p:spTgt spid="15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56">
                                            <p:txEl>
                                              <p:pRg st="4" end="4"/>
                                            </p:txEl>
                                          </p:spTgt>
                                        </p:tgtEl>
                                        <p:attrNameLst>
                                          <p:attrName>style.visibility</p:attrName>
                                        </p:attrNameLst>
                                      </p:cBhvr>
                                      <p:to>
                                        <p:strVal val="visible"/>
                                      </p:to>
                                    </p:set>
                                    <p:anim calcmode="lin" valueType="num">
                                      <p:cBhvr additive="base">
                                        <p:cTn id="32" dur="1000"/>
                                        <p:tgtEl>
                                          <p:spTgt spid="15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56">
                                            <p:txEl>
                                              <p:pRg st="5" end="5"/>
                                            </p:txEl>
                                          </p:spTgt>
                                        </p:tgtEl>
                                        <p:attrNameLst>
                                          <p:attrName>style.visibility</p:attrName>
                                        </p:attrNameLst>
                                      </p:cBhvr>
                                      <p:to>
                                        <p:strVal val="visible"/>
                                      </p:to>
                                    </p:set>
                                    <p:anim calcmode="lin" valueType="num">
                                      <p:cBhvr additive="base">
                                        <p:cTn id="37" dur="1000"/>
                                        <p:tgtEl>
                                          <p:spTgt spid="15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56">
                                            <p:txEl>
                                              <p:pRg st="6" end="6"/>
                                            </p:txEl>
                                          </p:spTgt>
                                        </p:tgtEl>
                                        <p:attrNameLst>
                                          <p:attrName>style.visibility</p:attrName>
                                        </p:attrNameLst>
                                      </p:cBhvr>
                                      <p:to>
                                        <p:strVal val="visible"/>
                                      </p:to>
                                    </p:set>
                                    <p:anim calcmode="lin" valueType="num">
                                      <p:cBhvr additive="base">
                                        <p:cTn id="42" dur="1000"/>
                                        <p:tgtEl>
                                          <p:spTgt spid="156">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56">
                                            <p:txEl>
                                              <p:pRg st="7" end="7"/>
                                            </p:txEl>
                                          </p:spTgt>
                                        </p:tgtEl>
                                        <p:attrNameLst>
                                          <p:attrName>style.visibility</p:attrName>
                                        </p:attrNameLst>
                                      </p:cBhvr>
                                      <p:to>
                                        <p:strVal val="visible"/>
                                      </p:to>
                                    </p:set>
                                    <p:anim calcmode="lin" valueType="num">
                                      <p:cBhvr additive="base">
                                        <p:cTn id="47" dur="1000"/>
                                        <p:tgtEl>
                                          <p:spTgt spid="156">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56">
                                            <p:txEl>
                                              <p:pRg st="8" end="8"/>
                                            </p:txEl>
                                          </p:spTgt>
                                        </p:tgtEl>
                                        <p:attrNameLst>
                                          <p:attrName>style.visibility</p:attrName>
                                        </p:attrNameLst>
                                      </p:cBhvr>
                                      <p:to>
                                        <p:strVal val="visible"/>
                                      </p:to>
                                    </p:set>
                                    <p:anim calcmode="lin" valueType="num">
                                      <p:cBhvr additive="base">
                                        <p:cTn id="52" dur="1000"/>
                                        <p:tgtEl>
                                          <p:spTgt spid="156">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156">
                                            <p:txEl>
                                              <p:pRg st="9" end="9"/>
                                            </p:txEl>
                                          </p:spTgt>
                                        </p:tgtEl>
                                        <p:attrNameLst>
                                          <p:attrName>style.visibility</p:attrName>
                                        </p:attrNameLst>
                                      </p:cBhvr>
                                      <p:to>
                                        <p:strVal val="visible"/>
                                      </p:to>
                                    </p:set>
                                    <p:anim calcmode="lin" valueType="num">
                                      <p:cBhvr additive="base">
                                        <p:cTn id="57" dur="1000"/>
                                        <p:tgtEl>
                                          <p:spTgt spid="156">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56">
                                            <p:txEl>
                                              <p:pRg st="10" end="10"/>
                                            </p:txEl>
                                          </p:spTgt>
                                        </p:tgtEl>
                                        <p:attrNameLst>
                                          <p:attrName>style.visibility</p:attrName>
                                        </p:attrNameLst>
                                      </p:cBhvr>
                                      <p:to>
                                        <p:strVal val="visible"/>
                                      </p:to>
                                    </p:set>
                                    <p:anim calcmode="lin" valueType="num">
                                      <p:cBhvr additive="base">
                                        <p:cTn id="62" dur="1000"/>
                                        <p:tgtEl>
                                          <p:spTgt spid="156">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56">
                                            <p:txEl>
                                              <p:pRg st="11" end="11"/>
                                            </p:txEl>
                                          </p:spTgt>
                                        </p:tgtEl>
                                        <p:attrNameLst>
                                          <p:attrName>style.visibility</p:attrName>
                                        </p:attrNameLst>
                                      </p:cBhvr>
                                      <p:to>
                                        <p:strVal val="visible"/>
                                      </p:to>
                                    </p:set>
                                    <p:anim calcmode="lin" valueType="num">
                                      <p:cBhvr additive="base">
                                        <p:cTn id="67" dur="1000"/>
                                        <p:tgtEl>
                                          <p:spTgt spid="156">
                                            <p:txEl>
                                              <p:pRg st="11" end="11"/>
                                            </p:txEl>
                                          </p:spTgt>
                                        </p:tgtEl>
                                        <p:attrNameLst>
                                          <p:attrName>ppt_x</p:attrName>
                                        </p:attrNameLst>
                                      </p:cBhvr>
                                      <p:tavLst>
                                        <p:tav tm="0">
                                          <p:val>
                                            <p:strVal val="#ppt_x-1"/>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156">
                                            <p:txEl>
                                              <p:pRg st="0" end="0"/>
                                            </p:txEl>
                                          </p:spTgt>
                                        </p:tgtEl>
                                        <p:attrNameLst>
                                          <p:attrName>style.visibility</p:attrName>
                                        </p:attrNameLst>
                                      </p:cBhvr>
                                      <p:to>
                                        <p:strVal val="visible"/>
                                      </p:to>
                                    </p:set>
                                    <p:anim calcmode="lin" valueType="num">
                                      <p:cBhvr additive="base">
                                        <p:cTn id="72" dur="1000"/>
                                        <p:tgtEl>
                                          <p:spTgt spid="15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nodeType="clickEffect">
                                  <p:stCondLst>
                                    <p:cond delay="0"/>
                                  </p:stCondLst>
                                  <p:childTnLst>
                                    <p:set>
                                      <p:cBhvr>
                                        <p:cTn id="76" dur="1" fill="hold">
                                          <p:stCondLst>
                                            <p:cond delay="0"/>
                                          </p:stCondLst>
                                        </p:cTn>
                                        <p:tgtEl>
                                          <p:spTgt spid="156">
                                            <p:txEl>
                                              <p:pRg st="1" end="1"/>
                                            </p:txEl>
                                          </p:spTgt>
                                        </p:tgtEl>
                                        <p:attrNameLst>
                                          <p:attrName>style.visibility</p:attrName>
                                        </p:attrNameLst>
                                      </p:cBhvr>
                                      <p:to>
                                        <p:strVal val="visible"/>
                                      </p:to>
                                    </p:set>
                                    <p:anim calcmode="lin" valueType="num">
                                      <p:cBhvr additive="base">
                                        <p:cTn id="77" dur="1000"/>
                                        <p:tgtEl>
                                          <p:spTgt spid="15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156">
                                            <p:txEl>
                                              <p:pRg st="2" end="2"/>
                                            </p:txEl>
                                          </p:spTgt>
                                        </p:tgtEl>
                                        <p:attrNameLst>
                                          <p:attrName>style.visibility</p:attrName>
                                        </p:attrNameLst>
                                      </p:cBhvr>
                                      <p:to>
                                        <p:strVal val="visible"/>
                                      </p:to>
                                    </p:set>
                                    <p:anim calcmode="lin" valueType="num">
                                      <p:cBhvr additive="base">
                                        <p:cTn id="82" dur="1000"/>
                                        <p:tgtEl>
                                          <p:spTgt spid="15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nodeType="clickEffect">
                                  <p:stCondLst>
                                    <p:cond delay="0"/>
                                  </p:stCondLst>
                                  <p:childTnLst>
                                    <p:set>
                                      <p:cBhvr>
                                        <p:cTn id="86" dur="1" fill="hold">
                                          <p:stCondLst>
                                            <p:cond delay="0"/>
                                          </p:stCondLst>
                                        </p:cTn>
                                        <p:tgtEl>
                                          <p:spTgt spid="156">
                                            <p:txEl>
                                              <p:pRg st="3" end="3"/>
                                            </p:txEl>
                                          </p:spTgt>
                                        </p:tgtEl>
                                        <p:attrNameLst>
                                          <p:attrName>style.visibility</p:attrName>
                                        </p:attrNameLst>
                                      </p:cBhvr>
                                      <p:to>
                                        <p:strVal val="visible"/>
                                      </p:to>
                                    </p:set>
                                    <p:anim calcmode="lin" valueType="num">
                                      <p:cBhvr additive="base">
                                        <p:cTn id="87" dur="1000"/>
                                        <p:tgtEl>
                                          <p:spTgt spid="15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nodeType="clickEffect">
                                  <p:stCondLst>
                                    <p:cond delay="0"/>
                                  </p:stCondLst>
                                  <p:childTnLst>
                                    <p:set>
                                      <p:cBhvr>
                                        <p:cTn id="91" dur="1" fill="hold">
                                          <p:stCondLst>
                                            <p:cond delay="0"/>
                                          </p:stCondLst>
                                        </p:cTn>
                                        <p:tgtEl>
                                          <p:spTgt spid="156">
                                            <p:txEl>
                                              <p:pRg st="4" end="4"/>
                                            </p:txEl>
                                          </p:spTgt>
                                        </p:tgtEl>
                                        <p:attrNameLst>
                                          <p:attrName>style.visibility</p:attrName>
                                        </p:attrNameLst>
                                      </p:cBhvr>
                                      <p:to>
                                        <p:strVal val="visible"/>
                                      </p:to>
                                    </p:set>
                                    <p:anim calcmode="lin" valueType="num">
                                      <p:cBhvr additive="base">
                                        <p:cTn id="92" dur="1000"/>
                                        <p:tgtEl>
                                          <p:spTgt spid="15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nodeType="clickEffect">
                                  <p:stCondLst>
                                    <p:cond delay="0"/>
                                  </p:stCondLst>
                                  <p:childTnLst>
                                    <p:set>
                                      <p:cBhvr>
                                        <p:cTn id="96" dur="1" fill="hold">
                                          <p:stCondLst>
                                            <p:cond delay="0"/>
                                          </p:stCondLst>
                                        </p:cTn>
                                        <p:tgtEl>
                                          <p:spTgt spid="156">
                                            <p:txEl>
                                              <p:pRg st="5" end="5"/>
                                            </p:txEl>
                                          </p:spTgt>
                                        </p:tgtEl>
                                        <p:attrNameLst>
                                          <p:attrName>style.visibility</p:attrName>
                                        </p:attrNameLst>
                                      </p:cBhvr>
                                      <p:to>
                                        <p:strVal val="visible"/>
                                      </p:to>
                                    </p:set>
                                    <p:anim calcmode="lin" valueType="num">
                                      <p:cBhvr additive="base">
                                        <p:cTn id="97" dur="1000"/>
                                        <p:tgtEl>
                                          <p:spTgt spid="15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8" fill="hold" nodeType="clickEffect">
                                  <p:stCondLst>
                                    <p:cond delay="0"/>
                                  </p:stCondLst>
                                  <p:childTnLst>
                                    <p:set>
                                      <p:cBhvr>
                                        <p:cTn id="101" dur="1" fill="hold">
                                          <p:stCondLst>
                                            <p:cond delay="0"/>
                                          </p:stCondLst>
                                        </p:cTn>
                                        <p:tgtEl>
                                          <p:spTgt spid="156">
                                            <p:txEl>
                                              <p:pRg st="6" end="6"/>
                                            </p:txEl>
                                          </p:spTgt>
                                        </p:tgtEl>
                                        <p:attrNameLst>
                                          <p:attrName>style.visibility</p:attrName>
                                        </p:attrNameLst>
                                      </p:cBhvr>
                                      <p:to>
                                        <p:strVal val="visible"/>
                                      </p:to>
                                    </p:set>
                                    <p:anim calcmode="lin" valueType="num">
                                      <p:cBhvr additive="base">
                                        <p:cTn id="102" dur="1000"/>
                                        <p:tgtEl>
                                          <p:spTgt spid="156">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8" fill="hold" nodeType="clickEffect">
                                  <p:stCondLst>
                                    <p:cond delay="0"/>
                                  </p:stCondLst>
                                  <p:childTnLst>
                                    <p:set>
                                      <p:cBhvr>
                                        <p:cTn id="106" dur="1" fill="hold">
                                          <p:stCondLst>
                                            <p:cond delay="0"/>
                                          </p:stCondLst>
                                        </p:cTn>
                                        <p:tgtEl>
                                          <p:spTgt spid="156">
                                            <p:txEl>
                                              <p:pRg st="7" end="7"/>
                                            </p:txEl>
                                          </p:spTgt>
                                        </p:tgtEl>
                                        <p:attrNameLst>
                                          <p:attrName>style.visibility</p:attrName>
                                        </p:attrNameLst>
                                      </p:cBhvr>
                                      <p:to>
                                        <p:strVal val="visible"/>
                                      </p:to>
                                    </p:set>
                                    <p:anim calcmode="lin" valueType="num">
                                      <p:cBhvr additive="base">
                                        <p:cTn id="107" dur="1000"/>
                                        <p:tgtEl>
                                          <p:spTgt spid="156">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8" fill="hold" nodeType="clickEffect">
                                  <p:stCondLst>
                                    <p:cond delay="0"/>
                                  </p:stCondLst>
                                  <p:childTnLst>
                                    <p:set>
                                      <p:cBhvr>
                                        <p:cTn id="111" dur="1" fill="hold">
                                          <p:stCondLst>
                                            <p:cond delay="0"/>
                                          </p:stCondLst>
                                        </p:cTn>
                                        <p:tgtEl>
                                          <p:spTgt spid="156">
                                            <p:txEl>
                                              <p:pRg st="8" end="8"/>
                                            </p:txEl>
                                          </p:spTgt>
                                        </p:tgtEl>
                                        <p:attrNameLst>
                                          <p:attrName>style.visibility</p:attrName>
                                        </p:attrNameLst>
                                      </p:cBhvr>
                                      <p:to>
                                        <p:strVal val="visible"/>
                                      </p:to>
                                    </p:set>
                                    <p:anim calcmode="lin" valueType="num">
                                      <p:cBhvr additive="base">
                                        <p:cTn id="112" dur="1000"/>
                                        <p:tgtEl>
                                          <p:spTgt spid="156">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nodeType="clickEffect">
                                  <p:stCondLst>
                                    <p:cond delay="0"/>
                                  </p:stCondLst>
                                  <p:childTnLst>
                                    <p:set>
                                      <p:cBhvr>
                                        <p:cTn id="116" dur="1" fill="hold">
                                          <p:stCondLst>
                                            <p:cond delay="0"/>
                                          </p:stCondLst>
                                        </p:cTn>
                                        <p:tgtEl>
                                          <p:spTgt spid="156">
                                            <p:txEl>
                                              <p:pRg st="9" end="9"/>
                                            </p:txEl>
                                          </p:spTgt>
                                        </p:tgtEl>
                                        <p:attrNameLst>
                                          <p:attrName>style.visibility</p:attrName>
                                        </p:attrNameLst>
                                      </p:cBhvr>
                                      <p:to>
                                        <p:strVal val="visible"/>
                                      </p:to>
                                    </p:set>
                                    <p:anim calcmode="lin" valueType="num">
                                      <p:cBhvr additive="base">
                                        <p:cTn id="117" dur="1000"/>
                                        <p:tgtEl>
                                          <p:spTgt spid="156">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8" fill="hold" nodeType="clickEffect">
                                  <p:stCondLst>
                                    <p:cond delay="0"/>
                                  </p:stCondLst>
                                  <p:childTnLst>
                                    <p:set>
                                      <p:cBhvr>
                                        <p:cTn id="121" dur="1" fill="hold">
                                          <p:stCondLst>
                                            <p:cond delay="0"/>
                                          </p:stCondLst>
                                        </p:cTn>
                                        <p:tgtEl>
                                          <p:spTgt spid="156">
                                            <p:txEl>
                                              <p:pRg st="10" end="10"/>
                                            </p:txEl>
                                          </p:spTgt>
                                        </p:tgtEl>
                                        <p:attrNameLst>
                                          <p:attrName>style.visibility</p:attrName>
                                        </p:attrNameLst>
                                      </p:cBhvr>
                                      <p:to>
                                        <p:strVal val="visible"/>
                                      </p:to>
                                    </p:set>
                                    <p:anim calcmode="lin" valueType="num">
                                      <p:cBhvr additive="base">
                                        <p:cTn id="122" dur="1000"/>
                                        <p:tgtEl>
                                          <p:spTgt spid="156">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nodeType="clickEffect">
                                  <p:stCondLst>
                                    <p:cond delay="0"/>
                                  </p:stCondLst>
                                  <p:childTnLst>
                                    <p:set>
                                      <p:cBhvr>
                                        <p:cTn id="126" dur="1" fill="hold">
                                          <p:stCondLst>
                                            <p:cond delay="0"/>
                                          </p:stCondLst>
                                        </p:cTn>
                                        <p:tgtEl>
                                          <p:spTgt spid="156">
                                            <p:txEl>
                                              <p:pRg st="11" end="11"/>
                                            </p:txEl>
                                          </p:spTgt>
                                        </p:tgtEl>
                                        <p:attrNameLst>
                                          <p:attrName>style.visibility</p:attrName>
                                        </p:attrNameLst>
                                      </p:cBhvr>
                                      <p:to>
                                        <p:strVal val="visible"/>
                                      </p:to>
                                    </p:set>
                                    <p:anim calcmode="lin" valueType="num">
                                      <p:cBhvr additive="base">
                                        <p:cTn id="127" dur="1000"/>
                                        <p:tgtEl>
                                          <p:spTgt spid="156">
                                            <p:txEl>
                                              <p:pRg st="11" end="11"/>
                                            </p:txEl>
                                          </p:spTgt>
                                        </p:tgtEl>
                                        <p:attrNameLst>
                                          <p:attrName>ppt_x</p:attrName>
                                        </p:attrNameLst>
                                      </p:cBhvr>
                                      <p:tavLst>
                                        <p:tav tm="0">
                                          <p:val>
                                            <p:strVal val="#ppt_x-1"/>
                                          </p:val>
                                        </p:tav>
                                        <p:tav tm="100000">
                                          <p:val>
                                            <p:strVal val="#ppt_x"/>
                                          </p:val>
                                        </p:tav>
                                      </p:tavLst>
                                    </p:anim>
                                  </p:childTnLst>
                                </p:cTn>
                              </p:par>
                            </p:childTnLst>
                          </p:cTn>
                        </p:par>
                      </p:childTnLst>
                    </p:cTn>
                  </p:par>
                  <p:par>
                    <p:cTn id="128" fill="hold">
                      <p:stCondLst>
                        <p:cond delay="indefinite"/>
                      </p:stCondLst>
                      <p:childTnLst>
                        <p:par>
                          <p:cTn id="129" fill="hold">
                            <p:stCondLst>
                              <p:cond delay="0"/>
                            </p:stCondLst>
                            <p:childTnLst>
                              <p:par>
                                <p:cTn id="130" presetID="2" presetClass="entr" presetSubtype="8" fill="hold" nodeType="clickEffect">
                                  <p:stCondLst>
                                    <p:cond delay="0"/>
                                  </p:stCondLst>
                                  <p:childTnLst>
                                    <p:set>
                                      <p:cBhvr>
                                        <p:cTn id="131" dur="1" fill="hold">
                                          <p:stCondLst>
                                            <p:cond delay="0"/>
                                          </p:stCondLst>
                                        </p:cTn>
                                        <p:tgtEl>
                                          <p:spTgt spid="156">
                                            <p:txEl>
                                              <p:pRg st="0" end="0"/>
                                            </p:txEl>
                                          </p:spTgt>
                                        </p:tgtEl>
                                        <p:attrNameLst>
                                          <p:attrName>style.visibility</p:attrName>
                                        </p:attrNameLst>
                                      </p:cBhvr>
                                      <p:to>
                                        <p:strVal val="visible"/>
                                      </p:to>
                                    </p:set>
                                    <p:anim calcmode="lin" valueType="num">
                                      <p:cBhvr additive="base">
                                        <p:cTn id="132" dur="1000"/>
                                        <p:tgtEl>
                                          <p:spTgt spid="15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8" fill="hold" nodeType="clickEffect">
                                  <p:stCondLst>
                                    <p:cond delay="0"/>
                                  </p:stCondLst>
                                  <p:childTnLst>
                                    <p:set>
                                      <p:cBhvr>
                                        <p:cTn id="136" dur="1" fill="hold">
                                          <p:stCondLst>
                                            <p:cond delay="0"/>
                                          </p:stCondLst>
                                        </p:cTn>
                                        <p:tgtEl>
                                          <p:spTgt spid="156">
                                            <p:txEl>
                                              <p:pRg st="1" end="1"/>
                                            </p:txEl>
                                          </p:spTgt>
                                        </p:tgtEl>
                                        <p:attrNameLst>
                                          <p:attrName>style.visibility</p:attrName>
                                        </p:attrNameLst>
                                      </p:cBhvr>
                                      <p:to>
                                        <p:strVal val="visible"/>
                                      </p:to>
                                    </p:set>
                                    <p:anim calcmode="lin" valueType="num">
                                      <p:cBhvr additive="base">
                                        <p:cTn id="137" dur="1000"/>
                                        <p:tgtEl>
                                          <p:spTgt spid="15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8" fill="hold" nodeType="clickEffect">
                                  <p:stCondLst>
                                    <p:cond delay="0"/>
                                  </p:stCondLst>
                                  <p:childTnLst>
                                    <p:set>
                                      <p:cBhvr>
                                        <p:cTn id="141" dur="1" fill="hold">
                                          <p:stCondLst>
                                            <p:cond delay="0"/>
                                          </p:stCondLst>
                                        </p:cTn>
                                        <p:tgtEl>
                                          <p:spTgt spid="156">
                                            <p:txEl>
                                              <p:pRg st="2" end="2"/>
                                            </p:txEl>
                                          </p:spTgt>
                                        </p:tgtEl>
                                        <p:attrNameLst>
                                          <p:attrName>style.visibility</p:attrName>
                                        </p:attrNameLst>
                                      </p:cBhvr>
                                      <p:to>
                                        <p:strVal val="visible"/>
                                      </p:to>
                                    </p:set>
                                    <p:anim calcmode="lin" valueType="num">
                                      <p:cBhvr additive="base">
                                        <p:cTn id="142" dur="1000"/>
                                        <p:tgtEl>
                                          <p:spTgt spid="15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8" fill="hold" nodeType="clickEffect">
                                  <p:stCondLst>
                                    <p:cond delay="0"/>
                                  </p:stCondLst>
                                  <p:childTnLst>
                                    <p:set>
                                      <p:cBhvr>
                                        <p:cTn id="146" dur="1" fill="hold">
                                          <p:stCondLst>
                                            <p:cond delay="0"/>
                                          </p:stCondLst>
                                        </p:cTn>
                                        <p:tgtEl>
                                          <p:spTgt spid="156">
                                            <p:txEl>
                                              <p:pRg st="3" end="3"/>
                                            </p:txEl>
                                          </p:spTgt>
                                        </p:tgtEl>
                                        <p:attrNameLst>
                                          <p:attrName>style.visibility</p:attrName>
                                        </p:attrNameLst>
                                      </p:cBhvr>
                                      <p:to>
                                        <p:strVal val="visible"/>
                                      </p:to>
                                    </p:set>
                                    <p:anim calcmode="lin" valueType="num">
                                      <p:cBhvr additive="base">
                                        <p:cTn id="147" dur="1000"/>
                                        <p:tgtEl>
                                          <p:spTgt spid="15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8" fill="hold" nodeType="clickEffect">
                                  <p:stCondLst>
                                    <p:cond delay="0"/>
                                  </p:stCondLst>
                                  <p:childTnLst>
                                    <p:set>
                                      <p:cBhvr>
                                        <p:cTn id="151" dur="1" fill="hold">
                                          <p:stCondLst>
                                            <p:cond delay="0"/>
                                          </p:stCondLst>
                                        </p:cTn>
                                        <p:tgtEl>
                                          <p:spTgt spid="156">
                                            <p:txEl>
                                              <p:pRg st="4" end="4"/>
                                            </p:txEl>
                                          </p:spTgt>
                                        </p:tgtEl>
                                        <p:attrNameLst>
                                          <p:attrName>style.visibility</p:attrName>
                                        </p:attrNameLst>
                                      </p:cBhvr>
                                      <p:to>
                                        <p:strVal val="visible"/>
                                      </p:to>
                                    </p:set>
                                    <p:anim calcmode="lin" valueType="num">
                                      <p:cBhvr additive="base">
                                        <p:cTn id="152" dur="1000"/>
                                        <p:tgtEl>
                                          <p:spTgt spid="15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nodeType="clickEffect">
                                  <p:stCondLst>
                                    <p:cond delay="0"/>
                                  </p:stCondLst>
                                  <p:childTnLst>
                                    <p:set>
                                      <p:cBhvr>
                                        <p:cTn id="156" dur="1" fill="hold">
                                          <p:stCondLst>
                                            <p:cond delay="0"/>
                                          </p:stCondLst>
                                        </p:cTn>
                                        <p:tgtEl>
                                          <p:spTgt spid="156">
                                            <p:txEl>
                                              <p:pRg st="5" end="5"/>
                                            </p:txEl>
                                          </p:spTgt>
                                        </p:tgtEl>
                                        <p:attrNameLst>
                                          <p:attrName>style.visibility</p:attrName>
                                        </p:attrNameLst>
                                      </p:cBhvr>
                                      <p:to>
                                        <p:strVal val="visible"/>
                                      </p:to>
                                    </p:set>
                                    <p:anim calcmode="lin" valueType="num">
                                      <p:cBhvr additive="base">
                                        <p:cTn id="157" dur="1000"/>
                                        <p:tgtEl>
                                          <p:spTgt spid="15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158" fill="hold">
                      <p:stCondLst>
                        <p:cond delay="indefinite"/>
                      </p:stCondLst>
                      <p:childTnLst>
                        <p:par>
                          <p:cTn id="159" fill="hold">
                            <p:stCondLst>
                              <p:cond delay="0"/>
                            </p:stCondLst>
                            <p:childTnLst>
                              <p:par>
                                <p:cTn id="160" presetID="2" presetClass="entr" presetSubtype="8" fill="hold" nodeType="clickEffect">
                                  <p:stCondLst>
                                    <p:cond delay="0"/>
                                  </p:stCondLst>
                                  <p:childTnLst>
                                    <p:set>
                                      <p:cBhvr>
                                        <p:cTn id="161" dur="1" fill="hold">
                                          <p:stCondLst>
                                            <p:cond delay="0"/>
                                          </p:stCondLst>
                                        </p:cTn>
                                        <p:tgtEl>
                                          <p:spTgt spid="156">
                                            <p:txEl>
                                              <p:pRg st="6" end="6"/>
                                            </p:txEl>
                                          </p:spTgt>
                                        </p:tgtEl>
                                        <p:attrNameLst>
                                          <p:attrName>style.visibility</p:attrName>
                                        </p:attrNameLst>
                                      </p:cBhvr>
                                      <p:to>
                                        <p:strVal val="visible"/>
                                      </p:to>
                                    </p:set>
                                    <p:anim calcmode="lin" valueType="num">
                                      <p:cBhvr additive="base">
                                        <p:cTn id="162" dur="1000"/>
                                        <p:tgtEl>
                                          <p:spTgt spid="156">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8" fill="hold" nodeType="clickEffect">
                                  <p:stCondLst>
                                    <p:cond delay="0"/>
                                  </p:stCondLst>
                                  <p:childTnLst>
                                    <p:set>
                                      <p:cBhvr>
                                        <p:cTn id="166" dur="1" fill="hold">
                                          <p:stCondLst>
                                            <p:cond delay="0"/>
                                          </p:stCondLst>
                                        </p:cTn>
                                        <p:tgtEl>
                                          <p:spTgt spid="156">
                                            <p:txEl>
                                              <p:pRg st="7" end="7"/>
                                            </p:txEl>
                                          </p:spTgt>
                                        </p:tgtEl>
                                        <p:attrNameLst>
                                          <p:attrName>style.visibility</p:attrName>
                                        </p:attrNameLst>
                                      </p:cBhvr>
                                      <p:to>
                                        <p:strVal val="visible"/>
                                      </p:to>
                                    </p:set>
                                    <p:anim calcmode="lin" valueType="num">
                                      <p:cBhvr additive="base">
                                        <p:cTn id="167" dur="1000"/>
                                        <p:tgtEl>
                                          <p:spTgt spid="156">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168" fill="hold">
                      <p:stCondLst>
                        <p:cond delay="indefinite"/>
                      </p:stCondLst>
                      <p:childTnLst>
                        <p:par>
                          <p:cTn id="169" fill="hold">
                            <p:stCondLst>
                              <p:cond delay="0"/>
                            </p:stCondLst>
                            <p:childTnLst>
                              <p:par>
                                <p:cTn id="170" presetID="2" presetClass="entr" presetSubtype="8" fill="hold" nodeType="clickEffect">
                                  <p:stCondLst>
                                    <p:cond delay="0"/>
                                  </p:stCondLst>
                                  <p:childTnLst>
                                    <p:set>
                                      <p:cBhvr>
                                        <p:cTn id="171" dur="1" fill="hold">
                                          <p:stCondLst>
                                            <p:cond delay="0"/>
                                          </p:stCondLst>
                                        </p:cTn>
                                        <p:tgtEl>
                                          <p:spTgt spid="156">
                                            <p:txEl>
                                              <p:pRg st="8" end="8"/>
                                            </p:txEl>
                                          </p:spTgt>
                                        </p:tgtEl>
                                        <p:attrNameLst>
                                          <p:attrName>style.visibility</p:attrName>
                                        </p:attrNameLst>
                                      </p:cBhvr>
                                      <p:to>
                                        <p:strVal val="visible"/>
                                      </p:to>
                                    </p:set>
                                    <p:anim calcmode="lin" valueType="num">
                                      <p:cBhvr additive="base">
                                        <p:cTn id="172" dur="1000"/>
                                        <p:tgtEl>
                                          <p:spTgt spid="156">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8" fill="hold" nodeType="clickEffect">
                                  <p:stCondLst>
                                    <p:cond delay="0"/>
                                  </p:stCondLst>
                                  <p:childTnLst>
                                    <p:set>
                                      <p:cBhvr>
                                        <p:cTn id="176" dur="1" fill="hold">
                                          <p:stCondLst>
                                            <p:cond delay="0"/>
                                          </p:stCondLst>
                                        </p:cTn>
                                        <p:tgtEl>
                                          <p:spTgt spid="156">
                                            <p:txEl>
                                              <p:pRg st="9" end="9"/>
                                            </p:txEl>
                                          </p:spTgt>
                                        </p:tgtEl>
                                        <p:attrNameLst>
                                          <p:attrName>style.visibility</p:attrName>
                                        </p:attrNameLst>
                                      </p:cBhvr>
                                      <p:to>
                                        <p:strVal val="visible"/>
                                      </p:to>
                                    </p:set>
                                    <p:anim calcmode="lin" valueType="num">
                                      <p:cBhvr additive="base">
                                        <p:cTn id="177" dur="1000"/>
                                        <p:tgtEl>
                                          <p:spTgt spid="156">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178" fill="hold">
                      <p:stCondLst>
                        <p:cond delay="indefinite"/>
                      </p:stCondLst>
                      <p:childTnLst>
                        <p:par>
                          <p:cTn id="179" fill="hold">
                            <p:stCondLst>
                              <p:cond delay="0"/>
                            </p:stCondLst>
                            <p:childTnLst>
                              <p:par>
                                <p:cTn id="180" presetID="2" presetClass="entr" presetSubtype="8" fill="hold" nodeType="clickEffect">
                                  <p:stCondLst>
                                    <p:cond delay="0"/>
                                  </p:stCondLst>
                                  <p:childTnLst>
                                    <p:set>
                                      <p:cBhvr>
                                        <p:cTn id="181" dur="1" fill="hold">
                                          <p:stCondLst>
                                            <p:cond delay="0"/>
                                          </p:stCondLst>
                                        </p:cTn>
                                        <p:tgtEl>
                                          <p:spTgt spid="156">
                                            <p:txEl>
                                              <p:pRg st="10" end="10"/>
                                            </p:txEl>
                                          </p:spTgt>
                                        </p:tgtEl>
                                        <p:attrNameLst>
                                          <p:attrName>style.visibility</p:attrName>
                                        </p:attrNameLst>
                                      </p:cBhvr>
                                      <p:to>
                                        <p:strVal val="visible"/>
                                      </p:to>
                                    </p:set>
                                    <p:anim calcmode="lin" valueType="num">
                                      <p:cBhvr additive="base">
                                        <p:cTn id="182" dur="1000"/>
                                        <p:tgtEl>
                                          <p:spTgt spid="156">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nodeType="clickEffect">
                                  <p:stCondLst>
                                    <p:cond delay="0"/>
                                  </p:stCondLst>
                                  <p:childTnLst>
                                    <p:set>
                                      <p:cBhvr>
                                        <p:cTn id="186" dur="1" fill="hold">
                                          <p:stCondLst>
                                            <p:cond delay="0"/>
                                          </p:stCondLst>
                                        </p:cTn>
                                        <p:tgtEl>
                                          <p:spTgt spid="156">
                                            <p:txEl>
                                              <p:pRg st="11" end="11"/>
                                            </p:txEl>
                                          </p:spTgt>
                                        </p:tgtEl>
                                        <p:attrNameLst>
                                          <p:attrName>style.visibility</p:attrName>
                                        </p:attrNameLst>
                                      </p:cBhvr>
                                      <p:to>
                                        <p:strVal val="visible"/>
                                      </p:to>
                                    </p:set>
                                    <p:anim calcmode="lin" valueType="num">
                                      <p:cBhvr additive="base">
                                        <p:cTn id="187" dur="1000"/>
                                        <p:tgtEl>
                                          <p:spTgt spid="156">
                                            <p:txEl>
                                              <p:pRg st="11" end="11"/>
                                            </p:txEl>
                                          </p:spTgt>
                                        </p:tgtEl>
                                        <p:attrNameLst>
                                          <p:attrName>ppt_x</p:attrName>
                                        </p:attrNameLst>
                                      </p:cBhvr>
                                      <p:tavLst>
                                        <p:tav tm="0">
                                          <p:val>
                                            <p:strVal val="#ppt_x-1"/>
                                          </p:val>
                                        </p:tav>
                                        <p:tav tm="100000">
                                          <p:val>
                                            <p:strVal val="#ppt_x"/>
                                          </p:val>
                                        </p:tav>
                                      </p:tavLst>
                                    </p:anim>
                                  </p:childTnLst>
                                </p:cTn>
                              </p:par>
                            </p:childTnLst>
                          </p:cTn>
                        </p:par>
                      </p:childTnLst>
                    </p:cTn>
                  </p:par>
                  <p:par>
                    <p:cTn id="188" fill="hold">
                      <p:stCondLst>
                        <p:cond delay="indefinite"/>
                      </p:stCondLst>
                      <p:childTnLst>
                        <p:par>
                          <p:cTn id="189" fill="hold">
                            <p:stCondLst>
                              <p:cond delay="0"/>
                            </p:stCondLst>
                            <p:childTnLst>
                              <p:par>
                                <p:cTn id="190" presetID="2" presetClass="entr" presetSubtype="8" fill="hold" nodeType="clickEffect">
                                  <p:stCondLst>
                                    <p:cond delay="0"/>
                                  </p:stCondLst>
                                  <p:childTnLst>
                                    <p:set>
                                      <p:cBhvr>
                                        <p:cTn id="191" dur="1" fill="hold">
                                          <p:stCondLst>
                                            <p:cond delay="0"/>
                                          </p:stCondLst>
                                        </p:cTn>
                                        <p:tgtEl>
                                          <p:spTgt spid="156">
                                            <p:txEl>
                                              <p:pRg st="0" end="0"/>
                                            </p:txEl>
                                          </p:spTgt>
                                        </p:tgtEl>
                                        <p:attrNameLst>
                                          <p:attrName>style.visibility</p:attrName>
                                        </p:attrNameLst>
                                      </p:cBhvr>
                                      <p:to>
                                        <p:strVal val="visible"/>
                                      </p:to>
                                    </p:set>
                                    <p:anim calcmode="lin" valueType="num">
                                      <p:cBhvr additive="base">
                                        <p:cTn id="192" dur="1000"/>
                                        <p:tgtEl>
                                          <p:spTgt spid="15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93" fill="hold">
                      <p:stCondLst>
                        <p:cond delay="indefinite"/>
                      </p:stCondLst>
                      <p:childTnLst>
                        <p:par>
                          <p:cTn id="194" fill="hold">
                            <p:stCondLst>
                              <p:cond delay="0"/>
                            </p:stCondLst>
                            <p:childTnLst>
                              <p:par>
                                <p:cTn id="195" presetID="2" presetClass="entr" presetSubtype="8" fill="hold" nodeType="clickEffect">
                                  <p:stCondLst>
                                    <p:cond delay="0"/>
                                  </p:stCondLst>
                                  <p:childTnLst>
                                    <p:set>
                                      <p:cBhvr>
                                        <p:cTn id="196" dur="1" fill="hold">
                                          <p:stCondLst>
                                            <p:cond delay="0"/>
                                          </p:stCondLst>
                                        </p:cTn>
                                        <p:tgtEl>
                                          <p:spTgt spid="156">
                                            <p:txEl>
                                              <p:pRg st="1" end="1"/>
                                            </p:txEl>
                                          </p:spTgt>
                                        </p:tgtEl>
                                        <p:attrNameLst>
                                          <p:attrName>style.visibility</p:attrName>
                                        </p:attrNameLst>
                                      </p:cBhvr>
                                      <p:to>
                                        <p:strVal val="visible"/>
                                      </p:to>
                                    </p:set>
                                    <p:anim calcmode="lin" valueType="num">
                                      <p:cBhvr additive="base">
                                        <p:cTn id="197" dur="1000"/>
                                        <p:tgtEl>
                                          <p:spTgt spid="15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98" fill="hold">
                      <p:stCondLst>
                        <p:cond delay="indefinite"/>
                      </p:stCondLst>
                      <p:childTnLst>
                        <p:par>
                          <p:cTn id="199" fill="hold">
                            <p:stCondLst>
                              <p:cond delay="0"/>
                            </p:stCondLst>
                            <p:childTnLst>
                              <p:par>
                                <p:cTn id="200" presetID="2" presetClass="entr" presetSubtype="8" fill="hold" nodeType="clickEffect">
                                  <p:stCondLst>
                                    <p:cond delay="0"/>
                                  </p:stCondLst>
                                  <p:childTnLst>
                                    <p:set>
                                      <p:cBhvr>
                                        <p:cTn id="201" dur="1" fill="hold">
                                          <p:stCondLst>
                                            <p:cond delay="0"/>
                                          </p:stCondLst>
                                        </p:cTn>
                                        <p:tgtEl>
                                          <p:spTgt spid="156">
                                            <p:txEl>
                                              <p:pRg st="2" end="2"/>
                                            </p:txEl>
                                          </p:spTgt>
                                        </p:tgtEl>
                                        <p:attrNameLst>
                                          <p:attrName>style.visibility</p:attrName>
                                        </p:attrNameLst>
                                      </p:cBhvr>
                                      <p:to>
                                        <p:strVal val="visible"/>
                                      </p:to>
                                    </p:set>
                                    <p:anim calcmode="lin" valueType="num">
                                      <p:cBhvr additive="base">
                                        <p:cTn id="202" dur="1000"/>
                                        <p:tgtEl>
                                          <p:spTgt spid="15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8" fill="hold" nodeType="clickEffect">
                                  <p:stCondLst>
                                    <p:cond delay="0"/>
                                  </p:stCondLst>
                                  <p:childTnLst>
                                    <p:set>
                                      <p:cBhvr>
                                        <p:cTn id="206" dur="1" fill="hold">
                                          <p:stCondLst>
                                            <p:cond delay="0"/>
                                          </p:stCondLst>
                                        </p:cTn>
                                        <p:tgtEl>
                                          <p:spTgt spid="156">
                                            <p:txEl>
                                              <p:pRg st="3" end="3"/>
                                            </p:txEl>
                                          </p:spTgt>
                                        </p:tgtEl>
                                        <p:attrNameLst>
                                          <p:attrName>style.visibility</p:attrName>
                                        </p:attrNameLst>
                                      </p:cBhvr>
                                      <p:to>
                                        <p:strVal val="visible"/>
                                      </p:to>
                                    </p:set>
                                    <p:anim calcmode="lin" valueType="num">
                                      <p:cBhvr additive="base">
                                        <p:cTn id="207" dur="1000"/>
                                        <p:tgtEl>
                                          <p:spTgt spid="15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08" fill="hold">
                      <p:stCondLst>
                        <p:cond delay="indefinite"/>
                      </p:stCondLst>
                      <p:childTnLst>
                        <p:par>
                          <p:cTn id="209" fill="hold">
                            <p:stCondLst>
                              <p:cond delay="0"/>
                            </p:stCondLst>
                            <p:childTnLst>
                              <p:par>
                                <p:cTn id="210" presetID="2" presetClass="entr" presetSubtype="8" fill="hold" nodeType="clickEffect">
                                  <p:stCondLst>
                                    <p:cond delay="0"/>
                                  </p:stCondLst>
                                  <p:childTnLst>
                                    <p:set>
                                      <p:cBhvr>
                                        <p:cTn id="211" dur="1" fill="hold">
                                          <p:stCondLst>
                                            <p:cond delay="0"/>
                                          </p:stCondLst>
                                        </p:cTn>
                                        <p:tgtEl>
                                          <p:spTgt spid="156">
                                            <p:txEl>
                                              <p:pRg st="4" end="4"/>
                                            </p:txEl>
                                          </p:spTgt>
                                        </p:tgtEl>
                                        <p:attrNameLst>
                                          <p:attrName>style.visibility</p:attrName>
                                        </p:attrNameLst>
                                      </p:cBhvr>
                                      <p:to>
                                        <p:strVal val="visible"/>
                                      </p:to>
                                    </p:set>
                                    <p:anim calcmode="lin" valueType="num">
                                      <p:cBhvr additive="base">
                                        <p:cTn id="212" dur="1000"/>
                                        <p:tgtEl>
                                          <p:spTgt spid="15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8" fill="hold" nodeType="clickEffect">
                                  <p:stCondLst>
                                    <p:cond delay="0"/>
                                  </p:stCondLst>
                                  <p:childTnLst>
                                    <p:set>
                                      <p:cBhvr>
                                        <p:cTn id="216" dur="1" fill="hold">
                                          <p:stCondLst>
                                            <p:cond delay="0"/>
                                          </p:stCondLst>
                                        </p:cTn>
                                        <p:tgtEl>
                                          <p:spTgt spid="156">
                                            <p:txEl>
                                              <p:pRg st="5" end="5"/>
                                            </p:txEl>
                                          </p:spTgt>
                                        </p:tgtEl>
                                        <p:attrNameLst>
                                          <p:attrName>style.visibility</p:attrName>
                                        </p:attrNameLst>
                                      </p:cBhvr>
                                      <p:to>
                                        <p:strVal val="visible"/>
                                      </p:to>
                                    </p:set>
                                    <p:anim calcmode="lin" valueType="num">
                                      <p:cBhvr additive="base">
                                        <p:cTn id="217" dur="1000"/>
                                        <p:tgtEl>
                                          <p:spTgt spid="15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218" fill="hold">
                      <p:stCondLst>
                        <p:cond delay="indefinite"/>
                      </p:stCondLst>
                      <p:childTnLst>
                        <p:par>
                          <p:cTn id="219" fill="hold">
                            <p:stCondLst>
                              <p:cond delay="0"/>
                            </p:stCondLst>
                            <p:childTnLst>
                              <p:par>
                                <p:cTn id="220" presetID="2" presetClass="entr" presetSubtype="8" fill="hold" nodeType="clickEffect">
                                  <p:stCondLst>
                                    <p:cond delay="0"/>
                                  </p:stCondLst>
                                  <p:childTnLst>
                                    <p:set>
                                      <p:cBhvr>
                                        <p:cTn id="221" dur="1" fill="hold">
                                          <p:stCondLst>
                                            <p:cond delay="0"/>
                                          </p:stCondLst>
                                        </p:cTn>
                                        <p:tgtEl>
                                          <p:spTgt spid="156">
                                            <p:txEl>
                                              <p:pRg st="6" end="6"/>
                                            </p:txEl>
                                          </p:spTgt>
                                        </p:tgtEl>
                                        <p:attrNameLst>
                                          <p:attrName>style.visibility</p:attrName>
                                        </p:attrNameLst>
                                      </p:cBhvr>
                                      <p:to>
                                        <p:strVal val="visible"/>
                                      </p:to>
                                    </p:set>
                                    <p:anim calcmode="lin" valueType="num">
                                      <p:cBhvr additive="base">
                                        <p:cTn id="222" dur="1000"/>
                                        <p:tgtEl>
                                          <p:spTgt spid="156">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223" fill="hold">
                      <p:stCondLst>
                        <p:cond delay="indefinite"/>
                      </p:stCondLst>
                      <p:childTnLst>
                        <p:par>
                          <p:cTn id="224" fill="hold">
                            <p:stCondLst>
                              <p:cond delay="0"/>
                            </p:stCondLst>
                            <p:childTnLst>
                              <p:par>
                                <p:cTn id="225" presetID="2" presetClass="entr" presetSubtype="8" fill="hold" nodeType="clickEffect">
                                  <p:stCondLst>
                                    <p:cond delay="0"/>
                                  </p:stCondLst>
                                  <p:childTnLst>
                                    <p:set>
                                      <p:cBhvr>
                                        <p:cTn id="226" dur="1" fill="hold">
                                          <p:stCondLst>
                                            <p:cond delay="0"/>
                                          </p:stCondLst>
                                        </p:cTn>
                                        <p:tgtEl>
                                          <p:spTgt spid="156">
                                            <p:txEl>
                                              <p:pRg st="7" end="7"/>
                                            </p:txEl>
                                          </p:spTgt>
                                        </p:tgtEl>
                                        <p:attrNameLst>
                                          <p:attrName>style.visibility</p:attrName>
                                        </p:attrNameLst>
                                      </p:cBhvr>
                                      <p:to>
                                        <p:strVal val="visible"/>
                                      </p:to>
                                    </p:set>
                                    <p:anim calcmode="lin" valueType="num">
                                      <p:cBhvr additive="base">
                                        <p:cTn id="227" dur="1000"/>
                                        <p:tgtEl>
                                          <p:spTgt spid="156">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228" fill="hold">
                      <p:stCondLst>
                        <p:cond delay="indefinite"/>
                      </p:stCondLst>
                      <p:childTnLst>
                        <p:par>
                          <p:cTn id="229" fill="hold">
                            <p:stCondLst>
                              <p:cond delay="0"/>
                            </p:stCondLst>
                            <p:childTnLst>
                              <p:par>
                                <p:cTn id="230" presetID="2" presetClass="entr" presetSubtype="8" fill="hold" nodeType="clickEffect">
                                  <p:stCondLst>
                                    <p:cond delay="0"/>
                                  </p:stCondLst>
                                  <p:childTnLst>
                                    <p:set>
                                      <p:cBhvr>
                                        <p:cTn id="231" dur="1" fill="hold">
                                          <p:stCondLst>
                                            <p:cond delay="0"/>
                                          </p:stCondLst>
                                        </p:cTn>
                                        <p:tgtEl>
                                          <p:spTgt spid="156">
                                            <p:txEl>
                                              <p:pRg st="8" end="8"/>
                                            </p:txEl>
                                          </p:spTgt>
                                        </p:tgtEl>
                                        <p:attrNameLst>
                                          <p:attrName>style.visibility</p:attrName>
                                        </p:attrNameLst>
                                      </p:cBhvr>
                                      <p:to>
                                        <p:strVal val="visible"/>
                                      </p:to>
                                    </p:set>
                                    <p:anim calcmode="lin" valueType="num">
                                      <p:cBhvr additive="base">
                                        <p:cTn id="232" dur="1000"/>
                                        <p:tgtEl>
                                          <p:spTgt spid="156">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233" fill="hold">
                      <p:stCondLst>
                        <p:cond delay="indefinite"/>
                      </p:stCondLst>
                      <p:childTnLst>
                        <p:par>
                          <p:cTn id="234" fill="hold">
                            <p:stCondLst>
                              <p:cond delay="0"/>
                            </p:stCondLst>
                            <p:childTnLst>
                              <p:par>
                                <p:cTn id="235" presetID="2" presetClass="entr" presetSubtype="8" fill="hold" nodeType="clickEffect">
                                  <p:stCondLst>
                                    <p:cond delay="0"/>
                                  </p:stCondLst>
                                  <p:childTnLst>
                                    <p:set>
                                      <p:cBhvr>
                                        <p:cTn id="236" dur="1" fill="hold">
                                          <p:stCondLst>
                                            <p:cond delay="0"/>
                                          </p:stCondLst>
                                        </p:cTn>
                                        <p:tgtEl>
                                          <p:spTgt spid="156">
                                            <p:txEl>
                                              <p:pRg st="9" end="9"/>
                                            </p:txEl>
                                          </p:spTgt>
                                        </p:tgtEl>
                                        <p:attrNameLst>
                                          <p:attrName>style.visibility</p:attrName>
                                        </p:attrNameLst>
                                      </p:cBhvr>
                                      <p:to>
                                        <p:strVal val="visible"/>
                                      </p:to>
                                    </p:set>
                                    <p:anim calcmode="lin" valueType="num">
                                      <p:cBhvr additive="base">
                                        <p:cTn id="237" dur="1000"/>
                                        <p:tgtEl>
                                          <p:spTgt spid="156">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238" fill="hold">
                      <p:stCondLst>
                        <p:cond delay="indefinite"/>
                      </p:stCondLst>
                      <p:childTnLst>
                        <p:par>
                          <p:cTn id="239" fill="hold">
                            <p:stCondLst>
                              <p:cond delay="0"/>
                            </p:stCondLst>
                            <p:childTnLst>
                              <p:par>
                                <p:cTn id="240" presetID="2" presetClass="entr" presetSubtype="8" fill="hold" nodeType="clickEffect">
                                  <p:stCondLst>
                                    <p:cond delay="0"/>
                                  </p:stCondLst>
                                  <p:childTnLst>
                                    <p:set>
                                      <p:cBhvr>
                                        <p:cTn id="241" dur="1" fill="hold">
                                          <p:stCondLst>
                                            <p:cond delay="0"/>
                                          </p:stCondLst>
                                        </p:cTn>
                                        <p:tgtEl>
                                          <p:spTgt spid="156">
                                            <p:txEl>
                                              <p:pRg st="10" end="10"/>
                                            </p:txEl>
                                          </p:spTgt>
                                        </p:tgtEl>
                                        <p:attrNameLst>
                                          <p:attrName>style.visibility</p:attrName>
                                        </p:attrNameLst>
                                      </p:cBhvr>
                                      <p:to>
                                        <p:strVal val="visible"/>
                                      </p:to>
                                    </p:set>
                                    <p:anim calcmode="lin" valueType="num">
                                      <p:cBhvr additive="base">
                                        <p:cTn id="242" dur="1000"/>
                                        <p:tgtEl>
                                          <p:spTgt spid="156">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ntr" presetSubtype="8" fill="hold" nodeType="clickEffect">
                                  <p:stCondLst>
                                    <p:cond delay="0"/>
                                  </p:stCondLst>
                                  <p:childTnLst>
                                    <p:set>
                                      <p:cBhvr>
                                        <p:cTn id="246" dur="1" fill="hold">
                                          <p:stCondLst>
                                            <p:cond delay="0"/>
                                          </p:stCondLst>
                                        </p:cTn>
                                        <p:tgtEl>
                                          <p:spTgt spid="156">
                                            <p:txEl>
                                              <p:pRg st="11" end="11"/>
                                            </p:txEl>
                                          </p:spTgt>
                                        </p:tgtEl>
                                        <p:attrNameLst>
                                          <p:attrName>style.visibility</p:attrName>
                                        </p:attrNameLst>
                                      </p:cBhvr>
                                      <p:to>
                                        <p:strVal val="visible"/>
                                      </p:to>
                                    </p:set>
                                    <p:anim calcmode="lin" valueType="num">
                                      <p:cBhvr additive="base">
                                        <p:cTn id="247" dur="1000"/>
                                        <p:tgtEl>
                                          <p:spTgt spid="156">
                                            <p:txEl>
                                              <p:pRg st="11" end="11"/>
                                            </p:txEl>
                                          </p:spTgt>
                                        </p:tgtEl>
                                        <p:attrNameLst>
                                          <p:attrName>ppt_x</p:attrName>
                                        </p:attrNameLst>
                                      </p:cBhvr>
                                      <p:tavLst>
                                        <p:tav tm="0">
                                          <p:val>
                                            <p:strVal val="#ppt_x-1"/>
                                          </p:val>
                                        </p:tav>
                                        <p:tav tm="100000">
                                          <p:val>
                                            <p:strVal val="#ppt_x"/>
                                          </p:val>
                                        </p:tav>
                                      </p:tavLst>
                                    </p:anim>
                                  </p:childTnLst>
                                </p:cTn>
                              </p:par>
                            </p:childTnLst>
                          </p:cTn>
                        </p:par>
                      </p:childTnLst>
                    </p:cTn>
                  </p:par>
                  <p:par>
                    <p:cTn id="248" fill="hold">
                      <p:stCondLst>
                        <p:cond delay="indefinite"/>
                      </p:stCondLst>
                      <p:childTnLst>
                        <p:par>
                          <p:cTn id="249" fill="hold">
                            <p:stCondLst>
                              <p:cond delay="0"/>
                            </p:stCondLst>
                            <p:childTnLst>
                              <p:par>
                                <p:cTn id="250" presetID="2" presetClass="entr" presetSubtype="8" fill="hold" nodeType="clickEffect">
                                  <p:stCondLst>
                                    <p:cond delay="0"/>
                                  </p:stCondLst>
                                  <p:childTnLst>
                                    <p:set>
                                      <p:cBhvr>
                                        <p:cTn id="251" dur="1" fill="hold">
                                          <p:stCondLst>
                                            <p:cond delay="0"/>
                                          </p:stCondLst>
                                        </p:cTn>
                                        <p:tgtEl>
                                          <p:spTgt spid="156">
                                            <p:txEl>
                                              <p:pRg st="0" end="0"/>
                                            </p:txEl>
                                          </p:spTgt>
                                        </p:tgtEl>
                                        <p:attrNameLst>
                                          <p:attrName>style.visibility</p:attrName>
                                        </p:attrNameLst>
                                      </p:cBhvr>
                                      <p:to>
                                        <p:strVal val="visible"/>
                                      </p:to>
                                    </p:set>
                                    <p:anim calcmode="lin" valueType="num">
                                      <p:cBhvr additive="base">
                                        <p:cTn id="252" dur="1000"/>
                                        <p:tgtEl>
                                          <p:spTgt spid="15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253" fill="hold">
                      <p:stCondLst>
                        <p:cond delay="indefinite"/>
                      </p:stCondLst>
                      <p:childTnLst>
                        <p:par>
                          <p:cTn id="254" fill="hold">
                            <p:stCondLst>
                              <p:cond delay="0"/>
                            </p:stCondLst>
                            <p:childTnLst>
                              <p:par>
                                <p:cTn id="255" presetID="2" presetClass="entr" presetSubtype="8" fill="hold" nodeType="clickEffect">
                                  <p:stCondLst>
                                    <p:cond delay="0"/>
                                  </p:stCondLst>
                                  <p:childTnLst>
                                    <p:set>
                                      <p:cBhvr>
                                        <p:cTn id="256" dur="1" fill="hold">
                                          <p:stCondLst>
                                            <p:cond delay="0"/>
                                          </p:stCondLst>
                                        </p:cTn>
                                        <p:tgtEl>
                                          <p:spTgt spid="156">
                                            <p:txEl>
                                              <p:pRg st="1" end="1"/>
                                            </p:txEl>
                                          </p:spTgt>
                                        </p:tgtEl>
                                        <p:attrNameLst>
                                          <p:attrName>style.visibility</p:attrName>
                                        </p:attrNameLst>
                                      </p:cBhvr>
                                      <p:to>
                                        <p:strVal val="visible"/>
                                      </p:to>
                                    </p:set>
                                    <p:anim calcmode="lin" valueType="num">
                                      <p:cBhvr additive="base">
                                        <p:cTn id="257" dur="1000"/>
                                        <p:tgtEl>
                                          <p:spTgt spid="15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258" fill="hold">
                      <p:stCondLst>
                        <p:cond delay="indefinite"/>
                      </p:stCondLst>
                      <p:childTnLst>
                        <p:par>
                          <p:cTn id="259" fill="hold">
                            <p:stCondLst>
                              <p:cond delay="0"/>
                            </p:stCondLst>
                            <p:childTnLst>
                              <p:par>
                                <p:cTn id="260" presetID="2" presetClass="entr" presetSubtype="8" fill="hold" nodeType="clickEffect">
                                  <p:stCondLst>
                                    <p:cond delay="0"/>
                                  </p:stCondLst>
                                  <p:childTnLst>
                                    <p:set>
                                      <p:cBhvr>
                                        <p:cTn id="261" dur="1" fill="hold">
                                          <p:stCondLst>
                                            <p:cond delay="0"/>
                                          </p:stCondLst>
                                        </p:cTn>
                                        <p:tgtEl>
                                          <p:spTgt spid="156">
                                            <p:txEl>
                                              <p:pRg st="2" end="2"/>
                                            </p:txEl>
                                          </p:spTgt>
                                        </p:tgtEl>
                                        <p:attrNameLst>
                                          <p:attrName>style.visibility</p:attrName>
                                        </p:attrNameLst>
                                      </p:cBhvr>
                                      <p:to>
                                        <p:strVal val="visible"/>
                                      </p:to>
                                    </p:set>
                                    <p:anim calcmode="lin" valueType="num">
                                      <p:cBhvr additive="base">
                                        <p:cTn id="262" dur="1000"/>
                                        <p:tgtEl>
                                          <p:spTgt spid="15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263" fill="hold">
                      <p:stCondLst>
                        <p:cond delay="indefinite"/>
                      </p:stCondLst>
                      <p:childTnLst>
                        <p:par>
                          <p:cTn id="264" fill="hold">
                            <p:stCondLst>
                              <p:cond delay="0"/>
                            </p:stCondLst>
                            <p:childTnLst>
                              <p:par>
                                <p:cTn id="265" presetID="2" presetClass="entr" presetSubtype="8" fill="hold" nodeType="clickEffect">
                                  <p:stCondLst>
                                    <p:cond delay="0"/>
                                  </p:stCondLst>
                                  <p:childTnLst>
                                    <p:set>
                                      <p:cBhvr>
                                        <p:cTn id="266" dur="1" fill="hold">
                                          <p:stCondLst>
                                            <p:cond delay="0"/>
                                          </p:stCondLst>
                                        </p:cTn>
                                        <p:tgtEl>
                                          <p:spTgt spid="156">
                                            <p:txEl>
                                              <p:pRg st="3" end="3"/>
                                            </p:txEl>
                                          </p:spTgt>
                                        </p:tgtEl>
                                        <p:attrNameLst>
                                          <p:attrName>style.visibility</p:attrName>
                                        </p:attrNameLst>
                                      </p:cBhvr>
                                      <p:to>
                                        <p:strVal val="visible"/>
                                      </p:to>
                                    </p:set>
                                    <p:anim calcmode="lin" valueType="num">
                                      <p:cBhvr additive="base">
                                        <p:cTn id="267" dur="1000"/>
                                        <p:tgtEl>
                                          <p:spTgt spid="15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68" fill="hold">
                      <p:stCondLst>
                        <p:cond delay="indefinite"/>
                      </p:stCondLst>
                      <p:childTnLst>
                        <p:par>
                          <p:cTn id="269" fill="hold">
                            <p:stCondLst>
                              <p:cond delay="0"/>
                            </p:stCondLst>
                            <p:childTnLst>
                              <p:par>
                                <p:cTn id="270" presetID="2" presetClass="entr" presetSubtype="8" fill="hold" nodeType="clickEffect">
                                  <p:stCondLst>
                                    <p:cond delay="0"/>
                                  </p:stCondLst>
                                  <p:childTnLst>
                                    <p:set>
                                      <p:cBhvr>
                                        <p:cTn id="271" dur="1" fill="hold">
                                          <p:stCondLst>
                                            <p:cond delay="0"/>
                                          </p:stCondLst>
                                        </p:cTn>
                                        <p:tgtEl>
                                          <p:spTgt spid="156">
                                            <p:txEl>
                                              <p:pRg st="4" end="4"/>
                                            </p:txEl>
                                          </p:spTgt>
                                        </p:tgtEl>
                                        <p:attrNameLst>
                                          <p:attrName>style.visibility</p:attrName>
                                        </p:attrNameLst>
                                      </p:cBhvr>
                                      <p:to>
                                        <p:strVal val="visible"/>
                                      </p:to>
                                    </p:set>
                                    <p:anim calcmode="lin" valueType="num">
                                      <p:cBhvr additive="base">
                                        <p:cTn id="272" dur="1000"/>
                                        <p:tgtEl>
                                          <p:spTgt spid="15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8" fill="hold" nodeType="clickEffect">
                                  <p:stCondLst>
                                    <p:cond delay="0"/>
                                  </p:stCondLst>
                                  <p:childTnLst>
                                    <p:set>
                                      <p:cBhvr>
                                        <p:cTn id="276" dur="1" fill="hold">
                                          <p:stCondLst>
                                            <p:cond delay="0"/>
                                          </p:stCondLst>
                                        </p:cTn>
                                        <p:tgtEl>
                                          <p:spTgt spid="156">
                                            <p:txEl>
                                              <p:pRg st="5" end="5"/>
                                            </p:txEl>
                                          </p:spTgt>
                                        </p:tgtEl>
                                        <p:attrNameLst>
                                          <p:attrName>style.visibility</p:attrName>
                                        </p:attrNameLst>
                                      </p:cBhvr>
                                      <p:to>
                                        <p:strVal val="visible"/>
                                      </p:to>
                                    </p:set>
                                    <p:anim calcmode="lin" valueType="num">
                                      <p:cBhvr additive="base">
                                        <p:cTn id="277" dur="1000"/>
                                        <p:tgtEl>
                                          <p:spTgt spid="156">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278" fill="hold">
                      <p:stCondLst>
                        <p:cond delay="indefinite"/>
                      </p:stCondLst>
                      <p:childTnLst>
                        <p:par>
                          <p:cTn id="279" fill="hold">
                            <p:stCondLst>
                              <p:cond delay="0"/>
                            </p:stCondLst>
                            <p:childTnLst>
                              <p:par>
                                <p:cTn id="280" presetID="2" presetClass="entr" presetSubtype="8" fill="hold" nodeType="clickEffect">
                                  <p:stCondLst>
                                    <p:cond delay="0"/>
                                  </p:stCondLst>
                                  <p:childTnLst>
                                    <p:set>
                                      <p:cBhvr>
                                        <p:cTn id="281" dur="1" fill="hold">
                                          <p:stCondLst>
                                            <p:cond delay="0"/>
                                          </p:stCondLst>
                                        </p:cTn>
                                        <p:tgtEl>
                                          <p:spTgt spid="156">
                                            <p:txEl>
                                              <p:pRg st="6" end="6"/>
                                            </p:txEl>
                                          </p:spTgt>
                                        </p:tgtEl>
                                        <p:attrNameLst>
                                          <p:attrName>style.visibility</p:attrName>
                                        </p:attrNameLst>
                                      </p:cBhvr>
                                      <p:to>
                                        <p:strVal val="visible"/>
                                      </p:to>
                                    </p:set>
                                    <p:anim calcmode="lin" valueType="num">
                                      <p:cBhvr additive="base">
                                        <p:cTn id="282" dur="1000"/>
                                        <p:tgtEl>
                                          <p:spTgt spid="156">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283" fill="hold">
                      <p:stCondLst>
                        <p:cond delay="indefinite"/>
                      </p:stCondLst>
                      <p:childTnLst>
                        <p:par>
                          <p:cTn id="284" fill="hold">
                            <p:stCondLst>
                              <p:cond delay="0"/>
                            </p:stCondLst>
                            <p:childTnLst>
                              <p:par>
                                <p:cTn id="285" presetID="2" presetClass="entr" presetSubtype="8" fill="hold" nodeType="clickEffect">
                                  <p:stCondLst>
                                    <p:cond delay="0"/>
                                  </p:stCondLst>
                                  <p:childTnLst>
                                    <p:set>
                                      <p:cBhvr>
                                        <p:cTn id="286" dur="1" fill="hold">
                                          <p:stCondLst>
                                            <p:cond delay="0"/>
                                          </p:stCondLst>
                                        </p:cTn>
                                        <p:tgtEl>
                                          <p:spTgt spid="156">
                                            <p:txEl>
                                              <p:pRg st="7" end="7"/>
                                            </p:txEl>
                                          </p:spTgt>
                                        </p:tgtEl>
                                        <p:attrNameLst>
                                          <p:attrName>style.visibility</p:attrName>
                                        </p:attrNameLst>
                                      </p:cBhvr>
                                      <p:to>
                                        <p:strVal val="visible"/>
                                      </p:to>
                                    </p:set>
                                    <p:anim calcmode="lin" valueType="num">
                                      <p:cBhvr additive="base">
                                        <p:cTn id="287" dur="1000"/>
                                        <p:tgtEl>
                                          <p:spTgt spid="156">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288" fill="hold">
                      <p:stCondLst>
                        <p:cond delay="indefinite"/>
                      </p:stCondLst>
                      <p:childTnLst>
                        <p:par>
                          <p:cTn id="289" fill="hold">
                            <p:stCondLst>
                              <p:cond delay="0"/>
                            </p:stCondLst>
                            <p:childTnLst>
                              <p:par>
                                <p:cTn id="290" presetID="2" presetClass="entr" presetSubtype="8" fill="hold" nodeType="clickEffect">
                                  <p:stCondLst>
                                    <p:cond delay="0"/>
                                  </p:stCondLst>
                                  <p:childTnLst>
                                    <p:set>
                                      <p:cBhvr>
                                        <p:cTn id="291" dur="1" fill="hold">
                                          <p:stCondLst>
                                            <p:cond delay="0"/>
                                          </p:stCondLst>
                                        </p:cTn>
                                        <p:tgtEl>
                                          <p:spTgt spid="156">
                                            <p:txEl>
                                              <p:pRg st="8" end="8"/>
                                            </p:txEl>
                                          </p:spTgt>
                                        </p:tgtEl>
                                        <p:attrNameLst>
                                          <p:attrName>style.visibility</p:attrName>
                                        </p:attrNameLst>
                                      </p:cBhvr>
                                      <p:to>
                                        <p:strVal val="visible"/>
                                      </p:to>
                                    </p:set>
                                    <p:anim calcmode="lin" valueType="num">
                                      <p:cBhvr additive="base">
                                        <p:cTn id="292" dur="1000"/>
                                        <p:tgtEl>
                                          <p:spTgt spid="156">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293" fill="hold">
                      <p:stCondLst>
                        <p:cond delay="indefinite"/>
                      </p:stCondLst>
                      <p:childTnLst>
                        <p:par>
                          <p:cTn id="294" fill="hold">
                            <p:stCondLst>
                              <p:cond delay="0"/>
                            </p:stCondLst>
                            <p:childTnLst>
                              <p:par>
                                <p:cTn id="295" presetID="2" presetClass="entr" presetSubtype="8" fill="hold" nodeType="clickEffect">
                                  <p:stCondLst>
                                    <p:cond delay="0"/>
                                  </p:stCondLst>
                                  <p:childTnLst>
                                    <p:set>
                                      <p:cBhvr>
                                        <p:cTn id="296" dur="1" fill="hold">
                                          <p:stCondLst>
                                            <p:cond delay="0"/>
                                          </p:stCondLst>
                                        </p:cTn>
                                        <p:tgtEl>
                                          <p:spTgt spid="156">
                                            <p:txEl>
                                              <p:pRg st="9" end="9"/>
                                            </p:txEl>
                                          </p:spTgt>
                                        </p:tgtEl>
                                        <p:attrNameLst>
                                          <p:attrName>style.visibility</p:attrName>
                                        </p:attrNameLst>
                                      </p:cBhvr>
                                      <p:to>
                                        <p:strVal val="visible"/>
                                      </p:to>
                                    </p:set>
                                    <p:anim calcmode="lin" valueType="num">
                                      <p:cBhvr additive="base">
                                        <p:cTn id="297" dur="1000"/>
                                        <p:tgtEl>
                                          <p:spTgt spid="156">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298" fill="hold">
                      <p:stCondLst>
                        <p:cond delay="indefinite"/>
                      </p:stCondLst>
                      <p:childTnLst>
                        <p:par>
                          <p:cTn id="299" fill="hold">
                            <p:stCondLst>
                              <p:cond delay="0"/>
                            </p:stCondLst>
                            <p:childTnLst>
                              <p:par>
                                <p:cTn id="300" presetID="2" presetClass="entr" presetSubtype="8" fill="hold" nodeType="clickEffect">
                                  <p:stCondLst>
                                    <p:cond delay="0"/>
                                  </p:stCondLst>
                                  <p:childTnLst>
                                    <p:set>
                                      <p:cBhvr>
                                        <p:cTn id="301" dur="1" fill="hold">
                                          <p:stCondLst>
                                            <p:cond delay="0"/>
                                          </p:stCondLst>
                                        </p:cTn>
                                        <p:tgtEl>
                                          <p:spTgt spid="156">
                                            <p:txEl>
                                              <p:pRg st="10" end="10"/>
                                            </p:txEl>
                                          </p:spTgt>
                                        </p:tgtEl>
                                        <p:attrNameLst>
                                          <p:attrName>style.visibility</p:attrName>
                                        </p:attrNameLst>
                                      </p:cBhvr>
                                      <p:to>
                                        <p:strVal val="visible"/>
                                      </p:to>
                                    </p:set>
                                    <p:anim calcmode="lin" valueType="num">
                                      <p:cBhvr additive="base">
                                        <p:cTn id="302" dur="1000"/>
                                        <p:tgtEl>
                                          <p:spTgt spid="156">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303" fill="hold">
                      <p:stCondLst>
                        <p:cond delay="indefinite"/>
                      </p:stCondLst>
                      <p:childTnLst>
                        <p:par>
                          <p:cTn id="304" fill="hold">
                            <p:stCondLst>
                              <p:cond delay="0"/>
                            </p:stCondLst>
                            <p:childTnLst>
                              <p:par>
                                <p:cTn id="305" presetID="2" presetClass="entr" presetSubtype="8" fill="hold" nodeType="clickEffect">
                                  <p:stCondLst>
                                    <p:cond delay="0"/>
                                  </p:stCondLst>
                                  <p:childTnLst>
                                    <p:set>
                                      <p:cBhvr>
                                        <p:cTn id="306" dur="1" fill="hold">
                                          <p:stCondLst>
                                            <p:cond delay="0"/>
                                          </p:stCondLst>
                                        </p:cTn>
                                        <p:tgtEl>
                                          <p:spTgt spid="156">
                                            <p:txEl>
                                              <p:pRg st="11" end="11"/>
                                            </p:txEl>
                                          </p:spTgt>
                                        </p:tgtEl>
                                        <p:attrNameLst>
                                          <p:attrName>style.visibility</p:attrName>
                                        </p:attrNameLst>
                                      </p:cBhvr>
                                      <p:to>
                                        <p:strVal val="visible"/>
                                      </p:to>
                                    </p:set>
                                    <p:anim calcmode="lin" valueType="num">
                                      <p:cBhvr additive="base">
                                        <p:cTn id="307" dur="1000"/>
                                        <p:tgtEl>
                                          <p:spTgt spid="156">
                                            <p:txEl>
                                              <p:pRg st="11" end="1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9"/>
          <p:cNvSpPr txBox="1">
            <a:spLocks noGrp="1"/>
          </p:cNvSpPr>
          <p:nvPr>
            <p:ph type="title"/>
          </p:nvPr>
        </p:nvSpPr>
        <p:spPr>
          <a:xfrm>
            <a:off x="500775" y="-3"/>
            <a:ext cx="8222100" cy="83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Oswald"/>
                <a:ea typeface="Oswald"/>
                <a:cs typeface="Oswald"/>
                <a:sym typeface="Oswald"/>
              </a:rPr>
              <a:t>RESTAURANT RECOMMENDATIONS </a:t>
            </a:r>
            <a:endParaRPr>
              <a:latin typeface="Oswald"/>
              <a:ea typeface="Oswald"/>
              <a:cs typeface="Oswald"/>
              <a:sym typeface="Oswald"/>
            </a:endParaRPr>
          </a:p>
        </p:txBody>
      </p:sp>
      <p:sp>
        <p:nvSpPr>
          <p:cNvPr id="162" name="Google Shape;162;p19"/>
          <p:cNvSpPr txBox="1"/>
          <p:nvPr/>
        </p:nvSpPr>
        <p:spPr>
          <a:xfrm>
            <a:off x="0" y="696550"/>
            <a:ext cx="9144000" cy="4494600"/>
          </a:xfrm>
          <a:prstGeom prst="rect">
            <a:avLst/>
          </a:prstGeom>
          <a:noFill/>
          <a:ln>
            <a:noFill/>
          </a:ln>
        </p:spPr>
        <p:txBody>
          <a:bodyPr spcFirstLastPara="1" wrap="square" lIns="91425" tIns="91425" rIns="91425" bIns="91425" anchor="t" anchorCtr="0">
            <a:spAutoFit/>
          </a:bodyPr>
          <a:lstStyle/>
          <a:p>
            <a:pPr marL="457200" lvl="0" indent="-381000" algn="l" rtl="0">
              <a:spcBef>
                <a:spcPts val="0"/>
              </a:spcBef>
              <a:spcAft>
                <a:spcPts val="0"/>
              </a:spcAft>
              <a:buClr>
                <a:srgbClr val="BF9000"/>
              </a:buClr>
              <a:buSzPts val="2400"/>
              <a:buFont typeface="Oswald"/>
              <a:buChar char="●"/>
            </a:pPr>
            <a:r>
              <a:rPr lang="en" sz="2400">
                <a:solidFill>
                  <a:srgbClr val="BF9000"/>
                </a:solidFill>
                <a:latin typeface="Oswald"/>
                <a:ea typeface="Oswald"/>
                <a:cs typeface="Oswald"/>
                <a:sym typeface="Oswald"/>
              </a:rPr>
              <a:t>DoorDash uses big data analytics to recommend restaurants to its user by collecting large amounts of data on user behaviour and preferences. This data is used to build sophisticated algorithms and machine learning models that can Identify patterns and relationships between different variables.</a:t>
            </a:r>
            <a:endParaRPr sz="2400">
              <a:solidFill>
                <a:srgbClr val="BF9000"/>
              </a:solidFill>
              <a:latin typeface="Oswald"/>
              <a:ea typeface="Oswald"/>
              <a:cs typeface="Oswald"/>
              <a:sym typeface="Oswald"/>
            </a:endParaRPr>
          </a:p>
          <a:p>
            <a:pPr marL="0" lvl="0" indent="0" algn="l" rtl="0">
              <a:spcBef>
                <a:spcPts val="0"/>
              </a:spcBef>
              <a:spcAft>
                <a:spcPts val="0"/>
              </a:spcAft>
              <a:buNone/>
            </a:pPr>
            <a:endParaRPr sz="2400">
              <a:solidFill>
                <a:srgbClr val="BF9000"/>
              </a:solidFill>
              <a:latin typeface="Oswald"/>
              <a:ea typeface="Oswald"/>
              <a:cs typeface="Oswald"/>
              <a:sym typeface="Oswald"/>
            </a:endParaRPr>
          </a:p>
          <a:p>
            <a:pPr marL="457200" lvl="0" indent="-381000" algn="l" rtl="0">
              <a:spcBef>
                <a:spcPts val="0"/>
              </a:spcBef>
              <a:spcAft>
                <a:spcPts val="0"/>
              </a:spcAft>
              <a:buClr>
                <a:srgbClr val="BF9000"/>
              </a:buClr>
              <a:buSzPts val="2400"/>
              <a:buFont typeface="Oswald"/>
              <a:buChar char="●"/>
            </a:pPr>
            <a:r>
              <a:rPr lang="en" sz="2400">
                <a:solidFill>
                  <a:srgbClr val="BF9000"/>
                </a:solidFill>
                <a:latin typeface="Oswald"/>
                <a:ea typeface="Oswald"/>
                <a:cs typeface="Oswald"/>
                <a:sym typeface="Oswald"/>
              </a:rPr>
              <a:t>For Example, </a:t>
            </a:r>
            <a:r>
              <a:rPr lang="en" sz="2400">
                <a:solidFill>
                  <a:srgbClr val="BF9000"/>
                </a:solidFill>
                <a:highlight>
                  <a:schemeClr val="dk1"/>
                </a:highlight>
                <a:latin typeface="Oswald"/>
                <a:ea typeface="Oswald"/>
                <a:cs typeface="Oswald"/>
                <a:sym typeface="Oswald"/>
              </a:rPr>
              <a:t>DoorDash collects data on the types of food and restaurants that users have ordered from in the past, as well as the time of day, location, and other contextual factors that may influence a user's ordering behavior. This data is then used to make recommendations for future orders based on a user's past behavior and preferences.</a:t>
            </a:r>
            <a:endParaRPr sz="2400">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r>
              <a:rPr lang="en" sz="2400">
                <a:solidFill>
                  <a:srgbClr val="BF9000"/>
                </a:solidFill>
                <a:highlight>
                  <a:schemeClr val="dk1"/>
                </a:highlight>
                <a:latin typeface="Oswald"/>
                <a:ea typeface="Oswald"/>
                <a:cs typeface="Oswald"/>
                <a:sym typeface="Oswald"/>
              </a:rPr>
              <a:t> </a:t>
            </a:r>
            <a:endParaRPr sz="2400">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endParaRPr sz="1600">
              <a:solidFill>
                <a:srgbClr val="BF9000"/>
              </a:solidFill>
              <a:highlight>
                <a:schemeClr val="dk1"/>
              </a:highlight>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 calcmode="lin" valueType="num">
                                      <p:cBhvr additive="base">
                                        <p:cTn id="7" dur="1000"/>
                                        <p:tgtEl>
                                          <p:spTgt spid="16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2">
                                            <p:txEl>
                                              <p:pRg st="0" end="0"/>
                                            </p:txEl>
                                          </p:spTgt>
                                        </p:tgtEl>
                                        <p:attrNameLst>
                                          <p:attrName>style.visibility</p:attrName>
                                        </p:attrNameLst>
                                      </p:cBhvr>
                                      <p:to>
                                        <p:strVal val="visible"/>
                                      </p:to>
                                    </p:set>
                                    <p:animEffect transition="in" filter="fade">
                                      <p:cBhvr>
                                        <p:cTn id="12" dur="1000"/>
                                        <p:tgtEl>
                                          <p:spTgt spid="1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xEl>
                                              <p:pRg st="1" end="1"/>
                                            </p:txEl>
                                          </p:spTgt>
                                        </p:tgtEl>
                                        <p:attrNameLst>
                                          <p:attrName>style.visibility</p:attrName>
                                        </p:attrNameLst>
                                      </p:cBhvr>
                                      <p:to>
                                        <p:strVal val="visible"/>
                                      </p:to>
                                    </p:set>
                                    <p:animEffect transition="in" filter="fade">
                                      <p:cBhvr>
                                        <p:cTn id="17" dur="1000"/>
                                        <p:tgtEl>
                                          <p:spTgt spid="16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2">
                                            <p:txEl>
                                              <p:pRg st="2" end="2"/>
                                            </p:txEl>
                                          </p:spTgt>
                                        </p:tgtEl>
                                        <p:attrNameLst>
                                          <p:attrName>style.visibility</p:attrName>
                                        </p:attrNameLst>
                                      </p:cBhvr>
                                      <p:to>
                                        <p:strVal val="visible"/>
                                      </p:to>
                                    </p:set>
                                    <p:animEffect transition="in" filter="fade">
                                      <p:cBhvr>
                                        <p:cTn id="22" dur="1000"/>
                                        <p:tgtEl>
                                          <p:spTgt spid="16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2">
                                            <p:txEl>
                                              <p:pRg st="3" end="3"/>
                                            </p:txEl>
                                          </p:spTgt>
                                        </p:tgtEl>
                                        <p:attrNameLst>
                                          <p:attrName>style.visibility</p:attrName>
                                        </p:attrNameLst>
                                      </p:cBhvr>
                                      <p:to>
                                        <p:strVal val="visible"/>
                                      </p:to>
                                    </p:set>
                                    <p:animEffect transition="in" filter="fade">
                                      <p:cBhvr>
                                        <p:cTn id="27" dur="1000"/>
                                        <p:tgtEl>
                                          <p:spTgt spid="16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2">
                                            <p:txEl>
                                              <p:pRg st="4" end="4"/>
                                            </p:txEl>
                                          </p:spTgt>
                                        </p:tgtEl>
                                        <p:attrNameLst>
                                          <p:attrName>style.visibility</p:attrName>
                                        </p:attrNameLst>
                                      </p:cBhvr>
                                      <p:to>
                                        <p:strVal val="visible"/>
                                      </p:to>
                                    </p:set>
                                    <p:animEffect transition="in" filter="fade">
                                      <p:cBhvr>
                                        <p:cTn id="32" dur="1000"/>
                                        <p:tgtEl>
                                          <p:spTgt spid="16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2">
                                            <p:txEl>
                                              <p:pRg st="0" end="0"/>
                                            </p:txEl>
                                          </p:spTgt>
                                        </p:tgtEl>
                                        <p:attrNameLst>
                                          <p:attrName>style.visibility</p:attrName>
                                        </p:attrNameLst>
                                      </p:cBhvr>
                                      <p:to>
                                        <p:strVal val="visible"/>
                                      </p:to>
                                    </p:set>
                                    <p:animEffect transition="in" filter="fade">
                                      <p:cBhvr>
                                        <p:cTn id="37" dur="1000"/>
                                        <p:tgtEl>
                                          <p:spTgt spid="16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2">
                                            <p:txEl>
                                              <p:pRg st="1" end="1"/>
                                            </p:txEl>
                                          </p:spTgt>
                                        </p:tgtEl>
                                        <p:attrNameLst>
                                          <p:attrName>style.visibility</p:attrName>
                                        </p:attrNameLst>
                                      </p:cBhvr>
                                      <p:to>
                                        <p:strVal val="visible"/>
                                      </p:to>
                                    </p:set>
                                    <p:animEffect transition="in" filter="fade">
                                      <p:cBhvr>
                                        <p:cTn id="42" dur="1000"/>
                                        <p:tgtEl>
                                          <p:spTgt spid="16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2">
                                            <p:txEl>
                                              <p:pRg st="2" end="2"/>
                                            </p:txEl>
                                          </p:spTgt>
                                        </p:tgtEl>
                                        <p:attrNameLst>
                                          <p:attrName>style.visibility</p:attrName>
                                        </p:attrNameLst>
                                      </p:cBhvr>
                                      <p:to>
                                        <p:strVal val="visible"/>
                                      </p:to>
                                    </p:set>
                                    <p:animEffect transition="in" filter="fade">
                                      <p:cBhvr>
                                        <p:cTn id="47" dur="1000"/>
                                        <p:tgtEl>
                                          <p:spTgt spid="162">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2">
                                            <p:txEl>
                                              <p:pRg st="3" end="3"/>
                                            </p:txEl>
                                          </p:spTgt>
                                        </p:tgtEl>
                                        <p:attrNameLst>
                                          <p:attrName>style.visibility</p:attrName>
                                        </p:attrNameLst>
                                      </p:cBhvr>
                                      <p:to>
                                        <p:strVal val="visible"/>
                                      </p:to>
                                    </p:set>
                                    <p:animEffect transition="in" filter="fade">
                                      <p:cBhvr>
                                        <p:cTn id="52" dur="1000"/>
                                        <p:tgtEl>
                                          <p:spTgt spid="162">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62">
                                            <p:txEl>
                                              <p:pRg st="4" end="4"/>
                                            </p:txEl>
                                          </p:spTgt>
                                        </p:tgtEl>
                                        <p:attrNameLst>
                                          <p:attrName>style.visibility</p:attrName>
                                        </p:attrNameLst>
                                      </p:cBhvr>
                                      <p:to>
                                        <p:strVal val="visible"/>
                                      </p:to>
                                    </p:set>
                                    <p:animEffect transition="in" filter="fade">
                                      <p:cBhvr>
                                        <p:cTn id="57" dur="1000"/>
                                        <p:tgtEl>
                                          <p:spTgt spid="16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0"/>
          <p:cNvSpPr txBox="1">
            <a:spLocks noGrp="1"/>
          </p:cNvSpPr>
          <p:nvPr>
            <p:ph type="title"/>
          </p:nvPr>
        </p:nvSpPr>
        <p:spPr>
          <a:xfrm>
            <a:off x="366000" y="-3"/>
            <a:ext cx="8222100" cy="83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Oswald"/>
                <a:ea typeface="Oswald"/>
                <a:cs typeface="Oswald"/>
                <a:sym typeface="Oswald"/>
              </a:rPr>
              <a:t>BIG DATA@DOORDASH</a:t>
            </a:r>
            <a:endParaRPr>
              <a:latin typeface="Oswald"/>
              <a:ea typeface="Oswald"/>
              <a:cs typeface="Oswald"/>
              <a:sym typeface="Oswald"/>
            </a:endParaRPr>
          </a:p>
        </p:txBody>
      </p:sp>
      <p:sp>
        <p:nvSpPr>
          <p:cNvPr id="168" name="Google Shape;168;p20"/>
          <p:cNvSpPr txBox="1"/>
          <p:nvPr/>
        </p:nvSpPr>
        <p:spPr>
          <a:xfrm>
            <a:off x="0" y="1010725"/>
            <a:ext cx="9144000" cy="42792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rgbClr val="BF9000"/>
              </a:buClr>
              <a:buSzPts val="1800"/>
              <a:buFont typeface="Oswald"/>
              <a:buChar char="●"/>
            </a:pPr>
            <a:r>
              <a:rPr lang="en" sz="1800">
                <a:solidFill>
                  <a:srgbClr val="BF9000"/>
                </a:solidFill>
                <a:highlight>
                  <a:schemeClr val="dk1"/>
                </a:highlight>
                <a:latin typeface="Oswald"/>
                <a:ea typeface="Oswald"/>
                <a:cs typeface="Oswald"/>
                <a:sym typeface="Oswald"/>
              </a:rPr>
              <a:t>DoorDash also uses big data to analyze restaurant and menu ratings and reviews, as well as data from other sources such as social media, to build a comprehensive understanding of user preferences and behavior. The company's algorithms use this data to identify the most popular dishes and restaurants, and to make recommendations based on the preferences of other users with similar tastes.</a:t>
            </a:r>
            <a:endParaRPr sz="1800">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endParaRPr sz="1800">
              <a:solidFill>
                <a:srgbClr val="BF9000"/>
              </a:solidFill>
              <a:highlight>
                <a:schemeClr val="dk1"/>
              </a:highlight>
              <a:latin typeface="Oswald"/>
              <a:ea typeface="Oswald"/>
              <a:cs typeface="Oswald"/>
              <a:sym typeface="Oswald"/>
            </a:endParaRPr>
          </a:p>
          <a:p>
            <a:pPr marL="457200" lvl="0" indent="-342900" algn="l" rtl="0">
              <a:spcBef>
                <a:spcPts val="0"/>
              </a:spcBef>
              <a:spcAft>
                <a:spcPts val="0"/>
              </a:spcAft>
              <a:buClr>
                <a:srgbClr val="BF9000"/>
              </a:buClr>
              <a:buSzPts val="1800"/>
              <a:buFont typeface="Oswald"/>
              <a:buChar char="●"/>
            </a:pPr>
            <a:r>
              <a:rPr lang="en" sz="1800">
                <a:solidFill>
                  <a:srgbClr val="BF9000"/>
                </a:solidFill>
                <a:highlight>
                  <a:schemeClr val="dk1"/>
                </a:highlight>
                <a:latin typeface="Oswald"/>
                <a:ea typeface="Oswald"/>
                <a:cs typeface="Oswald"/>
                <a:sym typeface="Oswald"/>
              </a:rPr>
              <a:t>Another important aspect of DoorDash's big data strategy is the use of predictive analytics. The company's algorithms use data on customer behavior and preferences to predict what types of restaurants and dishes a user is likely to order in the future. This allows DoorDash to make highly personalized recommendations that are tailored to each individual user's needs and preferences.</a:t>
            </a:r>
            <a:endParaRPr sz="1800">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endParaRPr sz="1800">
              <a:solidFill>
                <a:srgbClr val="BF9000"/>
              </a:solidFill>
              <a:highlight>
                <a:schemeClr val="dk1"/>
              </a:highlight>
              <a:latin typeface="Oswald"/>
              <a:ea typeface="Oswald"/>
              <a:cs typeface="Oswald"/>
              <a:sym typeface="Oswald"/>
            </a:endParaRPr>
          </a:p>
          <a:p>
            <a:pPr marL="457200" lvl="0" indent="-342900" algn="l" rtl="0">
              <a:spcBef>
                <a:spcPts val="0"/>
              </a:spcBef>
              <a:spcAft>
                <a:spcPts val="0"/>
              </a:spcAft>
              <a:buClr>
                <a:srgbClr val="BF9000"/>
              </a:buClr>
              <a:buSzPts val="1800"/>
              <a:buFont typeface="Oswald"/>
              <a:buChar char="●"/>
            </a:pPr>
            <a:r>
              <a:rPr lang="en" sz="1800">
                <a:solidFill>
                  <a:srgbClr val="BF9000"/>
                </a:solidFill>
                <a:highlight>
                  <a:schemeClr val="dk1"/>
                </a:highlight>
                <a:latin typeface="Oswald"/>
                <a:ea typeface="Oswald"/>
                <a:cs typeface="Oswald"/>
                <a:sym typeface="Oswald"/>
              </a:rPr>
              <a:t>Overall, DoorDash’s use of big data is a key factor in the company's ability to provide a highly personalized and convenient food delivery experience for its users. By collecting and analyzing large amounts of data on customer behavior and preferences, DoorDash is able to make more informed and accurate recommendations, which helps to drive customer engagement and loyalty.</a:t>
            </a:r>
            <a:endParaRPr sz="2000">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anim calcmode="lin" valueType="num">
                                      <p:cBhvr additive="base">
                                        <p:cTn id="7" dur="1000"/>
                                        <p:tgtEl>
                                          <p:spTgt spid="16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8">
                                            <p:txEl>
                                              <p:pRg st="0" end="0"/>
                                            </p:txEl>
                                          </p:spTgt>
                                        </p:tgtEl>
                                        <p:attrNameLst>
                                          <p:attrName>style.visibility</p:attrName>
                                        </p:attrNameLst>
                                      </p:cBhvr>
                                      <p:to>
                                        <p:strVal val="visible"/>
                                      </p:to>
                                    </p:set>
                                    <p:anim calcmode="lin" valueType="num">
                                      <p:cBhvr additive="base">
                                        <p:cTn id="12" dur="1000"/>
                                        <p:tgtEl>
                                          <p:spTgt spid="16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8">
                                            <p:txEl>
                                              <p:pRg st="1" end="1"/>
                                            </p:txEl>
                                          </p:spTgt>
                                        </p:tgtEl>
                                        <p:attrNameLst>
                                          <p:attrName>style.visibility</p:attrName>
                                        </p:attrNameLst>
                                      </p:cBhvr>
                                      <p:to>
                                        <p:strVal val="visible"/>
                                      </p:to>
                                    </p:set>
                                    <p:anim calcmode="lin" valueType="num">
                                      <p:cBhvr additive="base">
                                        <p:cTn id="17" dur="1000"/>
                                        <p:tgtEl>
                                          <p:spTgt spid="16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68">
                                            <p:txEl>
                                              <p:pRg st="2" end="2"/>
                                            </p:txEl>
                                          </p:spTgt>
                                        </p:tgtEl>
                                        <p:attrNameLst>
                                          <p:attrName>style.visibility</p:attrName>
                                        </p:attrNameLst>
                                      </p:cBhvr>
                                      <p:to>
                                        <p:strVal val="visible"/>
                                      </p:to>
                                    </p:set>
                                    <p:anim calcmode="lin" valueType="num">
                                      <p:cBhvr additive="base">
                                        <p:cTn id="22" dur="1000"/>
                                        <p:tgtEl>
                                          <p:spTgt spid="16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68">
                                            <p:txEl>
                                              <p:pRg st="3" end="3"/>
                                            </p:txEl>
                                          </p:spTgt>
                                        </p:tgtEl>
                                        <p:attrNameLst>
                                          <p:attrName>style.visibility</p:attrName>
                                        </p:attrNameLst>
                                      </p:cBhvr>
                                      <p:to>
                                        <p:strVal val="visible"/>
                                      </p:to>
                                    </p:set>
                                    <p:anim calcmode="lin" valueType="num">
                                      <p:cBhvr additive="base">
                                        <p:cTn id="27" dur="1000"/>
                                        <p:tgtEl>
                                          <p:spTgt spid="16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68">
                                            <p:txEl>
                                              <p:pRg st="4" end="4"/>
                                            </p:txEl>
                                          </p:spTgt>
                                        </p:tgtEl>
                                        <p:attrNameLst>
                                          <p:attrName>style.visibility</p:attrName>
                                        </p:attrNameLst>
                                      </p:cBhvr>
                                      <p:to>
                                        <p:strVal val="visible"/>
                                      </p:to>
                                    </p:set>
                                    <p:anim calcmode="lin" valueType="num">
                                      <p:cBhvr additive="base">
                                        <p:cTn id="32" dur="1000"/>
                                        <p:tgtEl>
                                          <p:spTgt spid="16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8">
                                            <p:txEl>
                                              <p:pRg st="5" end="5"/>
                                            </p:txEl>
                                          </p:spTgt>
                                        </p:tgtEl>
                                        <p:attrNameLst>
                                          <p:attrName>style.visibility</p:attrName>
                                        </p:attrNameLst>
                                      </p:cBhvr>
                                      <p:to>
                                        <p:strVal val="visible"/>
                                      </p:to>
                                    </p:set>
                                    <p:anim calcmode="lin" valueType="num">
                                      <p:cBhvr additive="base">
                                        <p:cTn id="37" dur="1000"/>
                                        <p:tgtEl>
                                          <p:spTgt spid="16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68">
                                            <p:txEl>
                                              <p:pRg st="0" end="0"/>
                                            </p:txEl>
                                          </p:spTgt>
                                        </p:tgtEl>
                                        <p:attrNameLst>
                                          <p:attrName>style.visibility</p:attrName>
                                        </p:attrNameLst>
                                      </p:cBhvr>
                                      <p:to>
                                        <p:strVal val="visible"/>
                                      </p:to>
                                    </p:set>
                                    <p:anim calcmode="lin" valueType="num">
                                      <p:cBhvr additive="base">
                                        <p:cTn id="42" dur="1000"/>
                                        <p:tgtEl>
                                          <p:spTgt spid="16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8">
                                            <p:txEl>
                                              <p:pRg st="1" end="1"/>
                                            </p:txEl>
                                          </p:spTgt>
                                        </p:tgtEl>
                                        <p:attrNameLst>
                                          <p:attrName>style.visibility</p:attrName>
                                        </p:attrNameLst>
                                      </p:cBhvr>
                                      <p:to>
                                        <p:strVal val="visible"/>
                                      </p:to>
                                    </p:set>
                                    <p:anim calcmode="lin" valueType="num">
                                      <p:cBhvr additive="base">
                                        <p:cTn id="47" dur="1000"/>
                                        <p:tgtEl>
                                          <p:spTgt spid="16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68">
                                            <p:txEl>
                                              <p:pRg st="2" end="2"/>
                                            </p:txEl>
                                          </p:spTgt>
                                        </p:tgtEl>
                                        <p:attrNameLst>
                                          <p:attrName>style.visibility</p:attrName>
                                        </p:attrNameLst>
                                      </p:cBhvr>
                                      <p:to>
                                        <p:strVal val="visible"/>
                                      </p:to>
                                    </p:set>
                                    <p:anim calcmode="lin" valueType="num">
                                      <p:cBhvr additive="base">
                                        <p:cTn id="52" dur="1000"/>
                                        <p:tgtEl>
                                          <p:spTgt spid="16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68">
                                            <p:txEl>
                                              <p:pRg st="3" end="3"/>
                                            </p:txEl>
                                          </p:spTgt>
                                        </p:tgtEl>
                                        <p:attrNameLst>
                                          <p:attrName>style.visibility</p:attrName>
                                        </p:attrNameLst>
                                      </p:cBhvr>
                                      <p:to>
                                        <p:strVal val="visible"/>
                                      </p:to>
                                    </p:set>
                                    <p:anim calcmode="lin" valueType="num">
                                      <p:cBhvr additive="base">
                                        <p:cTn id="57" dur="1000"/>
                                        <p:tgtEl>
                                          <p:spTgt spid="16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68">
                                            <p:txEl>
                                              <p:pRg st="4" end="4"/>
                                            </p:txEl>
                                          </p:spTgt>
                                        </p:tgtEl>
                                        <p:attrNameLst>
                                          <p:attrName>style.visibility</p:attrName>
                                        </p:attrNameLst>
                                      </p:cBhvr>
                                      <p:to>
                                        <p:strVal val="visible"/>
                                      </p:to>
                                    </p:set>
                                    <p:anim calcmode="lin" valueType="num">
                                      <p:cBhvr additive="base">
                                        <p:cTn id="62" dur="1000"/>
                                        <p:tgtEl>
                                          <p:spTgt spid="16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68">
                                            <p:txEl>
                                              <p:pRg st="5" end="5"/>
                                            </p:txEl>
                                          </p:spTgt>
                                        </p:tgtEl>
                                        <p:attrNameLst>
                                          <p:attrName>style.visibility</p:attrName>
                                        </p:attrNameLst>
                                      </p:cBhvr>
                                      <p:to>
                                        <p:strVal val="visible"/>
                                      </p:to>
                                    </p:set>
                                    <p:anim calcmode="lin" valueType="num">
                                      <p:cBhvr additive="base">
                                        <p:cTn id="67" dur="1000"/>
                                        <p:tgtEl>
                                          <p:spTgt spid="16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68">
                                            <p:txEl>
                                              <p:pRg st="0" end="0"/>
                                            </p:txEl>
                                          </p:spTgt>
                                        </p:tgtEl>
                                        <p:attrNameLst>
                                          <p:attrName>style.visibility</p:attrName>
                                        </p:attrNameLst>
                                      </p:cBhvr>
                                      <p:to>
                                        <p:strVal val="visible"/>
                                      </p:to>
                                    </p:set>
                                    <p:anim calcmode="lin" valueType="num">
                                      <p:cBhvr additive="base">
                                        <p:cTn id="72" dur="1000"/>
                                        <p:tgtEl>
                                          <p:spTgt spid="16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68">
                                            <p:txEl>
                                              <p:pRg st="1" end="1"/>
                                            </p:txEl>
                                          </p:spTgt>
                                        </p:tgtEl>
                                        <p:attrNameLst>
                                          <p:attrName>style.visibility</p:attrName>
                                        </p:attrNameLst>
                                      </p:cBhvr>
                                      <p:to>
                                        <p:strVal val="visible"/>
                                      </p:to>
                                    </p:set>
                                    <p:anim calcmode="lin" valueType="num">
                                      <p:cBhvr additive="base">
                                        <p:cTn id="77" dur="1000"/>
                                        <p:tgtEl>
                                          <p:spTgt spid="16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168">
                                            <p:txEl>
                                              <p:pRg st="2" end="2"/>
                                            </p:txEl>
                                          </p:spTgt>
                                        </p:tgtEl>
                                        <p:attrNameLst>
                                          <p:attrName>style.visibility</p:attrName>
                                        </p:attrNameLst>
                                      </p:cBhvr>
                                      <p:to>
                                        <p:strVal val="visible"/>
                                      </p:to>
                                    </p:set>
                                    <p:anim calcmode="lin" valueType="num">
                                      <p:cBhvr additive="base">
                                        <p:cTn id="82" dur="1000"/>
                                        <p:tgtEl>
                                          <p:spTgt spid="16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68">
                                            <p:txEl>
                                              <p:pRg st="3" end="3"/>
                                            </p:txEl>
                                          </p:spTgt>
                                        </p:tgtEl>
                                        <p:attrNameLst>
                                          <p:attrName>style.visibility</p:attrName>
                                        </p:attrNameLst>
                                      </p:cBhvr>
                                      <p:to>
                                        <p:strVal val="visible"/>
                                      </p:to>
                                    </p:set>
                                    <p:anim calcmode="lin" valueType="num">
                                      <p:cBhvr additive="base">
                                        <p:cTn id="87" dur="1000"/>
                                        <p:tgtEl>
                                          <p:spTgt spid="16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168">
                                            <p:txEl>
                                              <p:pRg st="4" end="4"/>
                                            </p:txEl>
                                          </p:spTgt>
                                        </p:tgtEl>
                                        <p:attrNameLst>
                                          <p:attrName>style.visibility</p:attrName>
                                        </p:attrNameLst>
                                      </p:cBhvr>
                                      <p:to>
                                        <p:strVal val="visible"/>
                                      </p:to>
                                    </p:set>
                                    <p:anim calcmode="lin" valueType="num">
                                      <p:cBhvr additive="base">
                                        <p:cTn id="92" dur="1000"/>
                                        <p:tgtEl>
                                          <p:spTgt spid="16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68">
                                            <p:txEl>
                                              <p:pRg st="5" end="5"/>
                                            </p:txEl>
                                          </p:spTgt>
                                        </p:tgtEl>
                                        <p:attrNameLst>
                                          <p:attrName>style.visibility</p:attrName>
                                        </p:attrNameLst>
                                      </p:cBhvr>
                                      <p:to>
                                        <p:strVal val="visible"/>
                                      </p:to>
                                    </p:set>
                                    <p:anim calcmode="lin" valueType="num">
                                      <p:cBhvr additive="base">
                                        <p:cTn id="97" dur="1000"/>
                                        <p:tgtEl>
                                          <p:spTgt spid="16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21"/>
          <p:cNvPicPr preferRelativeResize="0"/>
          <p:nvPr/>
        </p:nvPicPr>
        <p:blipFill>
          <a:blip r:embed="rId3">
            <a:alphaModFix/>
          </a:blip>
          <a:stretch>
            <a:fillRect/>
          </a:stretch>
        </p:blipFill>
        <p:spPr>
          <a:xfrm>
            <a:off x="3863250" y="0"/>
            <a:ext cx="5280751" cy="5143500"/>
          </a:xfrm>
          <a:prstGeom prst="rect">
            <a:avLst/>
          </a:prstGeom>
          <a:noFill/>
          <a:ln>
            <a:noFill/>
          </a:ln>
        </p:spPr>
      </p:pic>
      <p:sp>
        <p:nvSpPr>
          <p:cNvPr id="174" name="Google Shape;174;p21"/>
          <p:cNvSpPr txBox="1"/>
          <p:nvPr/>
        </p:nvSpPr>
        <p:spPr>
          <a:xfrm>
            <a:off x="1355125" y="703775"/>
            <a:ext cx="29724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rgbClr val="FAFBFC"/>
                </a:solidFill>
                <a:latin typeface="Oswald"/>
                <a:ea typeface="Oswald"/>
                <a:cs typeface="Oswald"/>
                <a:sym typeface="Oswald"/>
              </a:rPr>
              <a:t>ARCHITECTURE DESIGN OF DOORDASH</a:t>
            </a:r>
            <a:endParaRPr sz="3200">
              <a:solidFill>
                <a:srgbClr val="FAFBFC"/>
              </a:solidFill>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 calcmode="lin" valueType="num">
                                      <p:cBhvr additive="base">
                                        <p:cTn id="7" dur="1000"/>
                                        <p:tgtEl>
                                          <p:spTgt spid="173"/>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174"/>
                                        </p:tgtEl>
                                        <p:attrNameLst>
                                          <p:attrName>style.visibility</p:attrName>
                                        </p:attrNameLst>
                                      </p:cBhvr>
                                      <p:to>
                                        <p:strVal val="visible"/>
                                      </p:to>
                                    </p:set>
                                    <p:anim calcmode="lin" valueType="num">
                                      <p:cBhvr additive="base">
                                        <p:cTn id="10" dur="1000"/>
                                        <p:tgtEl>
                                          <p:spTgt spid="17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a:spLocks noGrp="1"/>
          </p:cNvSpPr>
          <p:nvPr>
            <p:ph type="title"/>
          </p:nvPr>
        </p:nvSpPr>
        <p:spPr>
          <a:xfrm>
            <a:off x="388500" y="-3"/>
            <a:ext cx="8222100" cy="83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100">
                <a:latin typeface="Oswald"/>
                <a:ea typeface="Oswald"/>
                <a:cs typeface="Oswald"/>
                <a:sym typeface="Oswald"/>
              </a:rPr>
              <a:t>ARCHITECTURE DESIGN OF DOORDASH</a:t>
            </a:r>
            <a:endParaRPr sz="4100">
              <a:latin typeface="Oswald"/>
              <a:ea typeface="Oswald"/>
              <a:cs typeface="Oswald"/>
              <a:sym typeface="Oswald"/>
            </a:endParaRPr>
          </a:p>
        </p:txBody>
      </p:sp>
      <p:sp>
        <p:nvSpPr>
          <p:cNvPr id="180" name="Google Shape;180;p22"/>
          <p:cNvSpPr txBox="1"/>
          <p:nvPr/>
        </p:nvSpPr>
        <p:spPr>
          <a:xfrm>
            <a:off x="14975" y="965800"/>
            <a:ext cx="9129000" cy="38481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rgbClr val="BF9000"/>
              </a:buClr>
              <a:buSzPts val="1400"/>
              <a:buFont typeface="Roboto"/>
              <a:buChar char="●"/>
            </a:pPr>
            <a:r>
              <a:rPr lang="en" b="1" i="1" u="sng">
                <a:solidFill>
                  <a:srgbClr val="BF9000"/>
                </a:solidFill>
                <a:latin typeface="Oswald"/>
                <a:ea typeface="Oswald"/>
                <a:cs typeface="Oswald"/>
                <a:sym typeface="Oswald"/>
              </a:rPr>
              <a:t>ORDERING A SERVICE</a:t>
            </a:r>
            <a:r>
              <a:rPr lang="en">
                <a:solidFill>
                  <a:srgbClr val="BF9000"/>
                </a:solidFill>
                <a:latin typeface="Oswald"/>
                <a:ea typeface="Oswald"/>
                <a:cs typeface="Oswald"/>
                <a:sym typeface="Oswald"/>
              </a:rPr>
              <a:t> – The service provides menu selection, cart management, and order placement with a payment processing using an external gateway , storing the results in orders database using a relational database. Customers can view full receipts , cancel orders and view their past orders.</a:t>
            </a:r>
            <a:endParaRPr>
              <a:solidFill>
                <a:srgbClr val="BF9000"/>
              </a:solidFill>
              <a:latin typeface="Oswald"/>
              <a:ea typeface="Oswald"/>
              <a:cs typeface="Oswald"/>
              <a:sym typeface="Oswald"/>
            </a:endParaRPr>
          </a:p>
          <a:p>
            <a:pPr marL="457200" lvl="0" indent="0" algn="l" rtl="0">
              <a:spcBef>
                <a:spcPts val="0"/>
              </a:spcBef>
              <a:spcAft>
                <a:spcPts val="0"/>
              </a:spcAft>
              <a:buNone/>
            </a:pPr>
            <a:endParaRPr>
              <a:solidFill>
                <a:srgbClr val="BF9000"/>
              </a:solidFill>
              <a:latin typeface="Oswald"/>
              <a:ea typeface="Oswald"/>
              <a:cs typeface="Oswald"/>
              <a:sym typeface="Oswald"/>
            </a:endParaRPr>
          </a:p>
          <a:p>
            <a:pPr marL="457200" lvl="0" indent="-317500" algn="l" rtl="0">
              <a:spcBef>
                <a:spcPts val="0"/>
              </a:spcBef>
              <a:spcAft>
                <a:spcPts val="0"/>
              </a:spcAft>
              <a:buClr>
                <a:srgbClr val="BF9000"/>
              </a:buClr>
              <a:buSzPts val="1400"/>
              <a:buFont typeface="Roboto"/>
              <a:buChar char="●"/>
            </a:pPr>
            <a:r>
              <a:rPr lang="en" b="1" i="1" u="sng">
                <a:solidFill>
                  <a:srgbClr val="BF9000"/>
                </a:solidFill>
                <a:latin typeface="Oswald"/>
                <a:ea typeface="Oswald"/>
                <a:cs typeface="Oswald"/>
                <a:sym typeface="Oswald"/>
              </a:rPr>
              <a:t>ORDER FULFILLMENT SERVICE</a:t>
            </a:r>
            <a:r>
              <a:rPr lang="en">
                <a:solidFill>
                  <a:srgbClr val="BF9000"/>
                </a:solidFill>
                <a:latin typeface="Oswald"/>
                <a:ea typeface="Oswald"/>
                <a:cs typeface="Oswald"/>
                <a:sym typeface="Oswald"/>
              </a:rPr>
              <a:t> – </a:t>
            </a:r>
            <a:r>
              <a:rPr lang="en">
                <a:solidFill>
                  <a:srgbClr val="BF9000"/>
                </a:solidFill>
                <a:highlight>
                  <a:schemeClr val="dk1"/>
                </a:highlight>
                <a:latin typeface="Oswald"/>
                <a:ea typeface="Oswald"/>
                <a:cs typeface="Oswald"/>
                <a:sym typeface="Oswald"/>
              </a:rPr>
              <a:t>The restaurant accepts orders through the app and updates customers on any delays or changes via the notification service. Customers can check order status and doordashers can view order details and receive notifications when it is ready for pickup.</a:t>
            </a:r>
            <a:endParaRPr>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endParaRPr>
              <a:solidFill>
                <a:srgbClr val="BF9000"/>
              </a:solidFill>
              <a:highlight>
                <a:schemeClr val="dk1"/>
              </a:highlight>
              <a:latin typeface="Oswald"/>
              <a:ea typeface="Oswald"/>
              <a:cs typeface="Oswald"/>
              <a:sym typeface="Oswald"/>
            </a:endParaRPr>
          </a:p>
          <a:p>
            <a:pPr marL="457200" lvl="0" indent="-317500" algn="l" rtl="0">
              <a:spcBef>
                <a:spcPts val="0"/>
              </a:spcBef>
              <a:spcAft>
                <a:spcPts val="0"/>
              </a:spcAft>
              <a:buClr>
                <a:srgbClr val="BF9000"/>
              </a:buClr>
              <a:buSzPts val="1400"/>
              <a:buFont typeface="Roboto"/>
              <a:buChar char="●"/>
            </a:pPr>
            <a:r>
              <a:rPr lang="en" b="1" i="1" u="sng">
                <a:solidFill>
                  <a:srgbClr val="BF9000"/>
                </a:solidFill>
                <a:highlight>
                  <a:schemeClr val="dk1"/>
                </a:highlight>
                <a:latin typeface="Oswald"/>
                <a:ea typeface="Oswald"/>
                <a:cs typeface="Oswald"/>
                <a:sym typeface="Oswald"/>
              </a:rPr>
              <a:t>USER PROFILE MANAGEMENT &amp; PREFERENCES SERVICE</a:t>
            </a:r>
            <a:r>
              <a:rPr lang="en">
                <a:solidFill>
                  <a:srgbClr val="BF9000"/>
                </a:solidFill>
                <a:highlight>
                  <a:schemeClr val="dk1"/>
                </a:highlight>
                <a:latin typeface="Oswald"/>
                <a:ea typeface="Oswald"/>
                <a:cs typeface="Oswald"/>
                <a:sym typeface="Oswald"/>
              </a:rPr>
              <a:t> – The system actors (customers, restaurant staff, doordashers, and admin) create profiles with personal information, role, and preferences. Customers may have preferred restaurants, zip codes, or cuisines; doordashers may prefer specific areas or restaurants, and actors have varying payment and notification preferences. The service manages all actor profiles and preferences.</a:t>
            </a:r>
            <a:endParaRPr>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endParaRPr>
              <a:solidFill>
                <a:srgbClr val="BF9000"/>
              </a:solidFill>
              <a:highlight>
                <a:schemeClr val="dk1"/>
              </a:highlight>
              <a:latin typeface="Oswald"/>
              <a:ea typeface="Oswald"/>
              <a:cs typeface="Oswald"/>
              <a:sym typeface="Oswald"/>
            </a:endParaRPr>
          </a:p>
          <a:p>
            <a:pPr marL="457200" lvl="0" indent="-317500" algn="l" rtl="0">
              <a:spcBef>
                <a:spcPts val="0"/>
              </a:spcBef>
              <a:spcAft>
                <a:spcPts val="0"/>
              </a:spcAft>
              <a:buClr>
                <a:srgbClr val="BF9000"/>
              </a:buClr>
              <a:buSzPts val="1400"/>
              <a:buFont typeface="Oswald"/>
              <a:buChar char="●"/>
            </a:pPr>
            <a:r>
              <a:rPr lang="en" b="1" i="1" u="sng">
                <a:solidFill>
                  <a:srgbClr val="BF9000"/>
                </a:solidFill>
                <a:highlight>
                  <a:schemeClr val="dk1"/>
                </a:highlight>
                <a:latin typeface="Oswald"/>
                <a:ea typeface="Oswald"/>
                <a:cs typeface="Oswald"/>
                <a:sym typeface="Oswald"/>
              </a:rPr>
              <a:t>DOORDASHER DISPATCH SERVICE</a:t>
            </a:r>
            <a:r>
              <a:rPr lang="en">
                <a:solidFill>
                  <a:srgbClr val="BF9000"/>
                </a:solidFill>
                <a:highlight>
                  <a:schemeClr val="dk1"/>
                </a:highlight>
                <a:latin typeface="Oswald"/>
                <a:ea typeface="Oswald"/>
                <a:cs typeface="Oswald"/>
                <a:sym typeface="Oswald"/>
              </a:rPr>
              <a:t> – Doordashers can view pickup orders from a list, accept them, view past orders, and access customer information for communication and updates.</a:t>
            </a:r>
            <a:endParaRPr>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endParaRPr>
              <a:highlight>
                <a:schemeClr val="dk1"/>
              </a:highlight>
              <a:latin typeface="Roboto"/>
              <a:ea typeface="Roboto"/>
              <a:cs typeface="Roboto"/>
              <a:sym typeface="Roboto"/>
            </a:endParaRPr>
          </a:p>
          <a:p>
            <a:pPr marL="0" lvl="0" indent="0" algn="l" rtl="0">
              <a:spcBef>
                <a:spcPts val="0"/>
              </a:spcBef>
              <a:spcAft>
                <a:spcPts val="0"/>
              </a:spcAft>
              <a:buNone/>
            </a:pPr>
            <a:endParaRPr>
              <a:highlight>
                <a:schemeClr val="dk1"/>
              </a:highlight>
              <a:latin typeface="Roboto"/>
              <a:ea typeface="Roboto"/>
              <a:cs typeface="Roboto"/>
              <a:sym typeface="Roboto"/>
            </a:endParaRPr>
          </a:p>
        </p:txBody>
      </p:sp>
      <p:sp>
        <p:nvSpPr>
          <p:cNvPr id="181" name="Google Shape;181;p22"/>
          <p:cNvSpPr txBox="1"/>
          <p:nvPr/>
        </p:nvSpPr>
        <p:spPr>
          <a:xfrm>
            <a:off x="7500" y="965800"/>
            <a:ext cx="9129000" cy="44946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rgbClr val="BF9000"/>
              </a:buClr>
              <a:buSzPts val="1400"/>
              <a:buFont typeface="Roboto"/>
              <a:buChar char="●"/>
            </a:pPr>
            <a:r>
              <a:rPr lang="en" b="1" i="1" u="sng">
                <a:solidFill>
                  <a:srgbClr val="FAFBFC"/>
                </a:solidFill>
                <a:latin typeface="Oswald"/>
                <a:ea typeface="Oswald"/>
                <a:cs typeface="Oswald"/>
                <a:sym typeface="Oswald"/>
              </a:rPr>
              <a:t>ORDERING A SERVICE</a:t>
            </a:r>
            <a:r>
              <a:rPr lang="en">
                <a:solidFill>
                  <a:srgbClr val="FAFBFC"/>
                </a:solidFill>
                <a:latin typeface="Oswald"/>
                <a:ea typeface="Oswald"/>
                <a:cs typeface="Oswald"/>
                <a:sym typeface="Oswald"/>
              </a:rPr>
              <a:t> –</a:t>
            </a:r>
            <a:r>
              <a:rPr lang="en" b="1">
                <a:solidFill>
                  <a:srgbClr val="BF9000"/>
                </a:solidFill>
                <a:latin typeface="Oswald"/>
                <a:ea typeface="Oswald"/>
                <a:cs typeface="Oswald"/>
                <a:sym typeface="Oswald"/>
              </a:rPr>
              <a:t> </a:t>
            </a:r>
            <a:r>
              <a:rPr lang="en">
                <a:solidFill>
                  <a:srgbClr val="BF9000"/>
                </a:solidFill>
                <a:highlight>
                  <a:schemeClr val="dk1"/>
                </a:highlight>
                <a:latin typeface="Oswald"/>
                <a:ea typeface="Oswald"/>
                <a:cs typeface="Oswald"/>
                <a:sym typeface="Oswald"/>
              </a:rPr>
              <a:t>The service provides menu selection, cart management, and order placement with a payment processing using an external gateway , storing the results in orders database using a relational database. Customers can view full receipts , cancel orders and view their past orders.</a:t>
            </a:r>
            <a:endParaRPr>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endParaRPr>
              <a:solidFill>
                <a:srgbClr val="BF9000"/>
              </a:solidFill>
              <a:latin typeface="Oswald"/>
              <a:ea typeface="Oswald"/>
              <a:cs typeface="Oswald"/>
              <a:sym typeface="Oswald"/>
            </a:endParaRPr>
          </a:p>
          <a:p>
            <a:pPr marL="457200" lvl="0" indent="-317500" algn="l" rtl="0">
              <a:spcBef>
                <a:spcPts val="0"/>
              </a:spcBef>
              <a:spcAft>
                <a:spcPts val="0"/>
              </a:spcAft>
              <a:buClr>
                <a:srgbClr val="BF9000"/>
              </a:buClr>
              <a:buSzPts val="1400"/>
              <a:buFont typeface="Roboto"/>
              <a:buChar char="●"/>
            </a:pPr>
            <a:r>
              <a:rPr lang="en" b="1" i="1" u="sng">
                <a:solidFill>
                  <a:srgbClr val="FAFBFC"/>
                </a:solidFill>
                <a:latin typeface="Oswald"/>
                <a:ea typeface="Oswald"/>
                <a:cs typeface="Oswald"/>
                <a:sym typeface="Oswald"/>
              </a:rPr>
              <a:t>ORDER FULFILLMENT SERVICE</a:t>
            </a:r>
            <a:r>
              <a:rPr lang="en">
                <a:solidFill>
                  <a:srgbClr val="FAFBFC"/>
                </a:solidFill>
                <a:latin typeface="Oswald"/>
                <a:ea typeface="Oswald"/>
                <a:cs typeface="Oswald"/>
                <a:sym typeface="Oswald"/>
              </a:rPr>
              <a:t> – </a:t>
            </a:r>
            <a:r>
              <a:rPr lang="en">
                <a:solidFill>
                  <a:srgbClr val="BF9000"/>
                </a:solidFill>
                <a:highlight>
                  <a:schemeClr val="dk1"/>
                </a:highlight>
                <a:latin typeface="Oswald"/>
                <a:ea typeface="Oswald"/>
                <a:cs typeface="Oswald"/>
                <a:sym typeface="Oswald"/>
              </a:rPr>
              <a:t>The restaurant accepts orders through the app and updates customers on any delays or changes via the notification service. Customers can check order status and doordashers can view order details and receive notifications when it is ready for pickup.</a:t>
            </a:r>
            <a:endParaRPr>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endParaRPr>
              <a:solidFill>
                <a:srgbClr val="BF9000"/>
              </a:solidFill>
              <a:highlight>
                <a:schemeClr val="dk1"/>
              </a:highlight>
              <a:latin typeface="Oswald"/>
              <a:ea typeface="Oswald"/>
              <a:cs typeface="Oswald"/>
              <a:sym typeface="Oswald"/>
            </a:endParaRPr>
          </a:p>
          <a:p>
            <a:pPr marL="457200" lvl="0" indent="-317500" algn="l" rtl="0">
              <a:spcBef>
                <a:spcPts val="0"/>
              </a:spcBef>
              <a:spcAft>
                <a:spcPts val="0"/>
              </a:spcAft>
              <a:buClr>
                <a:srgbClr val="BF9000"/>
              </a:buClr>
              <a:buSzPts val="1400"/>
              <a:buFont typeface="Roboto"/>
              <a:buChar char="●"/>
            </a:pPr>
            <a:r>
              <a:rPr lang="en" b="1" i="1" u="sng">
                <a:solidFill>
                  <a:srgbClr val="FAFBFC"/>
                </a:solidFill>
                <a:highlight>
                  <a:schemeClr val="dk1"/>
                </a:highlight>
                <a:latin typeface="Oswald"/>
                <a:ea typeface="Oswald"/>
                <a:cs typeface="Oswald"/>
                <a:sym typeface="Oswald"/>
              </a:rPr>
              <a:t>USER PROFILE MANAGEMENT &amp; PREFERENCES SERVICE</a:t>
            </a:r>
            <a:r>
              <a:rPr lang="en">
                <a:solidFill>
                  <a:srgbClr val="FAFBFC"/>
                </a:solidFill>
                <a:highlight>
                  <a:schemeClr val="dk1"/>
                </a:highlight>
                <a:latin typeface="Oswald"/>
                <a:ea typeface="Oswald"/>
                <a:cs typeface="Oswald"/>
                <a:sym typeface="Oswald"/>
              </a:rPr>
              <a:t> –</a:t>
            </a:r>
            <a:r>
              <a:rPr lang="en">
                <a:solidFill>
                  <a:srgbClr val="BF9000"/>
                </a:solidFill>
                <a:highlight>
                  <a:schemeClr val="dk1"/>
                </a:highlight>
                <a:latin typeface="Oswald"/>
                <a:ea typeface="Oswald"/>
                <a:cs typeface="Oswald"/>
                <a:sym typeface="Oswald"/>
              </a:rPr>
              <a:t> The system actors (customers, restaurant staff, doordashers, and admin) create profiles with personal information, role, and preferences. Customers may have preferred restaurants, zip codes, or cuisines; doordashers may prefer specific areas or restaurants, and actors have varying payment and notification preferences. The service manages all actor profiles and preferences.</a:t>
            </a:r>
            <a:endParaRPr>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endParaRPr>
              <a:solidFill>
                <a:srgbClr val="BF9000"/>
              </a:solidFill>
              <a:highlight>
                <a:schemeClr val="dk1"/>
              </a:highlight>
              <a:latin typeface="Oswald"/>
              <a:ea typeface="Oswald"/>
              <a:cs typeface="Oswald"/>
              <a:sym typeface="Oswald"/>
            </a:endParaRPr>
          </a:p>
          <a:p>
            <a:pPr marL="457200" lvl="0" indent="-317500" algn="l" rtl="0">
              <a:spcBef>
                <a:spcPts val="0"/>
              </a:spcBef>
              <a:spcAft>
                <a:spcPts val="0"/>
              </a:spcAft>
              <a:buClr>
                <a:srgbClr val="BF9000"/>
              </a:buClr>
              <a:buSzPts val="1400"/>
              <a:buFont typeface="Oswald"/>
              <a:buChar char="●"/>
            </a:pPr>
            <a:r>
              <a:rPr lang="en" b="1" i="1" u="sng">
                <a:solidFill>
                  <a:srgbClr val="FAFBFC"/>
                </a:solidFill>
                <a:highlight>
                  <a:schemeClr val="dk1"/>
                </a:highlight>
                <a:latin typeface="Oswald"/>
                <a:ea typeface="Oswald"/>
                <a:cs typeface="Oswald"/>
                <a:sym typeface="Oswald"/>
              </a:rPr>
              <a:t>DOORDASHER DISPATCH SERVICE</a:t>
            </a:r>
            <a:r>
              <a:rPr lang="en">
                <a:solidFill>
                  <a:srgbClr val="FAFBFC"/>
                </a:solidFill>
                <a:highlight>
                  <a:schemeClr val="dk1"/>
                </a:highlight>
                <a:latin typeface="Oswald"/>
                <a:ea typeface="Oswald"/>
                <a:cs typeface="Oswald"/>
                <a:sym typeface="Oswald"/>
              </a:rPr>
              <a:t> – </a:t>
            </a:r>
            <a:r>
              <a:rPr lang="en">
                <a:solidFill>
                  <a:srgbClr val="BF9000"/>
                </a:solidFill>
                <a:highlight>
                  <a:schemeClr val="dk1"/>
                </a:highlight>
                <a:latin typeface="Oswald"/>
                <a:ea typeface="Oswald"/>
                <a:cs typeface="Oswald"/>
                <a:sym typeface="Oswald"/>
              </a:rPr>
              <a:t>Doordashers can view pickup orders from a list, accept them, view past orders, and access customer information for communication and updates.</a:t>
            </a:r>
            <a:endParaRPr>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endParaRPr>
              <a:solidFill>
                <a:srgbClr val="BF9000"/>
              </a:solidFill>
              <a:highlight>
                <a:schemeClr val="dk1"/>
              </a:highlight>
              <a:latin typeface="Oswald"/>
              <a:ea typeface="Oswald"/>
              <a:cs typeface="Oswald"/>
              <a:sym typeface="Oswald"/>
            </a:endParaRPr>
          </a:p>
          <a:p>
            <a:pPr marL="457200" lvl="0" indent="-317500" algn="l" rtl="0">
              <a:spcBef>
                <a:spcPts val="0"/>
              </a:spcBef>
              <a:spcAft>
                <a:spcPts val="0"/>
              </a:spcAft>
              <a:buClr>
                <a:srgbClr val="BF9000"/>
              </a:buClr>
              <a:buSzPts val="1400"/>
              <a:buFont typeface="Oswald"/>
              <a:buChar char="●"/>
            </a:pPr>
            <a:r>
              <a:rPr lang="en" b="1" i="1" u="sng">
                <a:solidFill>
                  <a:srgbClr val="FAFBFC"/>
                </a:solidFill>
                <a:highlight>
                  <a:schemeClr val="dk1"/>
                </a:highlight>
                <a:latin typeface="Oswald"/>
                <a:ea typeface="Oswald"/>
                <a:cs typeface="Oswald"/>
                <a:sym typeface="Oswald"/>
              </a:rPr>
              <a:t>RESTAURANT PROFILE SERVICE – </a:t>
            </a:r>
            <a:r>
              <a:rPr lang="en">
                <a:solidFill>
                  <a:srgbClr val="BF9000"/>
                </a:solidFill>
                <a:highlight>
                  <a:schemeClr val="dk1"/>
                </a:highlight>
                <a:latin typeface="Oswald"/>
                <a:ea typeface="Oswald"/>
                <a:cs typeface="Oswald"/>
                <a:sym typeface="Oswald"/>
              </a:rPr>
              <a:t>The service manages restaurant data and allows restaurants to onboard, update their profile, manage menus/dishes, upload images, view financial details, and setup payment methods.</a:t>
            </a:r>
            <a:endParaRPr b="1" i="1" u="sng">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endParaRPr>
              <a:highlight>
                <a:schemeClr val="dk1"/>
              </a:highlight>
              <a:latin typeface="Roboto"/>
              <a:ea typeface="Roboto"/>
              <a:cs typeface="Roboto"/>
              <a:sym typeface="Roboto"/>
            </a:endParaRPr>
          </a:p>
          <a:p>
            <a:pPr marL="0" lvl="0" indent="0" algn="l" rtl="0">
              <a:spcBef>
                <a:spcPts val="0"/>
              </a:spcBef>
              <a:spcAft>
                <a:spcPts val="0"/>
              </a:spcAft>
              <a:buNone/>
            </a:pPr>
            <a:endParaRPr>
              <a:highlight>
                <a:schemeClr val="dk1"/>
              </a:highlight>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1000"/>
                                        <p:tgtEl>
                                          <p:spTgt spid="179"/>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1">
                                            <p:txEl>
                                              <p:pRg st="0" end="0"/>
                                            </p:txEl>
                                          </p:spTgt>
                                        </p:tgtEl>
                                        <p:attrNameLst>
                                          <p:attrName>style.visibility</p:attrName>
                                        </p:attrNameLst>
                                      </p:cBhvr>
                                      <p:to>
                                        <p:strVal val="visible"/>
                                      </p:to>
                                    </p:set>
                                    <p:anim calcmode="lin" valueType="num">
                                      <p:cBhvr additive="base">
                                        <p:cTn id="12" dur="1000"/>
                                        <p:tgtEl>
                                          <p:spTgt spid="1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81">
                                            <p:txEl>
                                              <p:pRg st="1" end="1"/>
                                            </p:txEl>
                                          </p:spTgt>
                                        </p:tgtEl>
                                        <p:attrNameLst>
                                          <p:attrName>style.visibility</p:attrName>
                                        </p:attrNameLst>
                                      </p:cBhvr>
                                      <p:to>
                                        <p:strVal val="visible"/>
                                      </p:to>
                                    </p:set>
                                    <p:anim calcmode="lin" valueType="num">
                                      <p:cBhvr additive="base">
                                        <p:cTn id="17" dur="1000"/>
                                        <p:tgtEl>
                                          <p:spTgt spid="1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81">
                                            <p:txEl>
                                              <p:pRg st="2" end="2"/>
                                            </p:txEl>
                                          </p:spTgt>
                                        </p:tgtEl>
                                        <p:attrNameLst>
                                          <p:attrName>style.visibility</p:attrName>
                                        </p:attrNameLst>
                                      </p:cBhvr>
                                      <p:to>
                                        <p:strVal val="visible"/>
                                      </p:to>
                                    </p:set>
                                    <p:anim calcmode="lin" valueType="num">
                                      <p:cBhvr additive="base">
                                        <p:cTn id="22" dur="1000"/>
                                        <p:tgtEl>
                                          <p:spTgt spid="18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81">
                                            <p:txEl>
                                              <p:pRg st="3" end="3"/>
                                            </p:txEl>
                                          </p:spTgt>
                                        </p:tgtEl>
                                        <p:attrNameLst>
                                          <p:attrName>style.visibility</p:attrName>
                                        </p:attrNameLst>
                                      </p:cBhvr>
                                      <p:to>
                                        <p:strVal val="visible"/>
                                      </p:to>
                                    </p:set>
                                    <p:anim calcmode="lin" valueType="num">
                                      <p:cBhvr additive="base">
                                        <p:cTn id="27" dur="1000"/>
                                        <p:tgtEl>
                                          <p:spTgt spid="18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81">
                                            <p:txEl>
                                              <p:pRg st="4" end="4"/>
                                            </p:txEl>
                                          </p:spTgt>
                                        </p:tgtEl>
                                        <p:attrNameLst>
                                          <p:attrName>style.visibility</p:attrName>
                                        </p:attrNameLst>
                                      </p:cBhvr>
                                      <p:to>
                                        <p:strVal val="visible"/>
                                      </p:to>
                                    </p:set>
                                    <p:anim calcmode="lin" valueType="num">
                                      <p:cBhvr additive="base">
                                        <p:cTn id="32" dur="1000"/>
                                        <p:tgtEl>
                                          <p:spTgt spid="18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81">
                                            <p:txEl>
                                              <p:pRg st="5" end="5"/>
                                            </p:txEl>
                                          </p:spTgt>
                                        </p:tgtEl>
                                        <p:attrNameLst>
                                          <p:attrName>style.visibility</p:attrName>
                                        </p:attrNameLst>
                                      </p:cBhvr>
                                      <p:to>
                                        <p:strVal val="visible"/>
                                      </p:to>
                                    </p:set>
                                    <p:anim calcmode="lin" valueType="num">
                                      <p:cBhvr additive="base">
                                        <p:cTn id="37" dur="1000"/>
                                        <p:tgtEl>
                                          <p:spTgt spid="18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81">
                                            <p:txEl>
                                              <p:pRg st="6" end="6"/>
                                            </p:txEl>
                                          </p:spTgt>
                                        </p:tgtEl>
                                        <p:attrNameLst>
                                          <p:attrName>style.visibility</p:attrName>
                                        </p:attrNameLst>
                                      </p:cBhvr>
                                      <p:to>
                                        <p:strVal val="visible"/>
                                      </p:to>
                                    </p:set>
                                    <p:anim calcmode="lin" valueType="num">
                                      <p:cBhvr additive="base">
                                        <p:cTn id="42" dur="1000"/>
                                        <p:tgtEl>
                                          <p:spTgt spid="18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81">
                                            <p:txEl>
                                              <p:pRg st="7" end="7"/>
                                            </p:txEl>
                                          </p:spTgt>
                                        </p:tgtEl>
                                        <p:attrNameLst>
                                          <p:attrName>style.visibility</p:attrName>
                                        </p:attrNameLst>
                                      </p:cBhvr>
                                      <p:to>
                                        <p:strVal val="visible"/>
                                      </p:to>
                                    </p:set>
                                    <p:anim calcmode="lin" valueType="num">
                                      <p:cBhvr additive="base">
                                        <p:cTn id="47" dur="1000"/>
                                        <p:tgtEl>
                                          <p:spTgt spid="181">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81">
                                            <p:txEl>
                                              <p:pRg st="8" end="8"/>
                                            </p:txEl>
                                          </p:spTgt>
                                        </p:tgtEl>
                                        <p:attrNameLst>
                                          <p:attrName>style.visibility</p:attrName>
                                        </p:attrNameLst>
                                      </p:cBhvr>
                                      <p:to>
                                        <p:strVal val="visible"/>
                                      </p:to>
                                    </p:set>
                                    <p:anim calcmode="lin" valueType="num">
                                      <p:cBhvr additive="base">
                                        <p:cTn id="52" dur="1000"/>
                                        <p:tgtEl>
                                          <p:spTgt spid="181">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181">
                                            <p:txEl>
                                              <p:pRg st="9" end="9"/>
                                            </p:txEl>
                                          </p:spTgt>
                                        </p:tgtEl>
                                        <p:attrNameLst>
                                          <p:attrName>style.visibility</p:attrName>
                                        </p:attrNameLst>
                                      </p:cBhvr>
                                      <p:to>
                                        <p:strVal val="visible"/>
                                      </p:to>
                                    </p:set>
                                    <p:anim calcmode="lin" valueType="num">
                                      <p:cBhvr additive="base">
                                        <p:cTn id="57" dur="1000"/>
                                        <p:tgtEl>
                                          <p:spTgt spid="181">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81">
                                            <p:txEl>
                                              <p:pRg st="10" end="10"/>
                                            </p:txEl>
                                          </p:spTgt>
                                        </p:tgtEl>
                                        <p:attrNameLst>
                                          <p:attrName>style.visibility</p:attrName>
                                        </p:attrNameLst>
                                      </p:cBhvr>
                                      <p:to>
                                        <p:strVal val="visible"/>
                                      </p:to>
                                    </p:set>
                                    <p:anim calcmode="lin" valueType="num">
                                      <p:cBhvr additive="base">
                                        <p:cTn id="62" dur="1000"/>
                                        <p:tgtEl>
                                          <p:spTgt spid="181">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81">
                                            <p:txEl>
                                              <p:pRg st="0" end="0"/>
                                            </p:txEl>
                                          </p:spTgt>
                                        </p:tgtEl>
                                        <p:attrNameLst>
                                          <p:attrName>style.visibility</p:attrName>
                                        </p:attrNameLst>
                                      </p:cBhvr>
                                      <p:to>
                                        <p:strVal val="visible"/>
                                      </p:to>
                                    </p:set>
                                    <p:anim calcmode="lin" valueType="num">
                                      <p:cBhvr additive="base">
                                        <p:cTn id="67" dur="1000"/>
                                        <p:tgtEl>
                                          <p:spTgt spid="1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181">
                                            <p:txEl>
                                              <p:pRg st="1" end="1"/>
                                            </p:txEl>
                                          </p:spTgt>
                                        </p:tgtEl>
                                        <p:attrNameLst>
                                          <p:attrName>style.visibility</p:attrName>
                                        </p:attrNameLst>
                                      </p:cBhvr>
                                      <p:to>
                                        <p:strVal val="visible"/>
                                      </p:to>
                                    </p:set>
                                    <p:anim calcmode="lin" valueType="num">
                                      <p:cBhvr additive="base">
                                        <p:cTn id="72" dur="1000"/>
                                        <p:tgtEl>
                                          <p:spTgt spid="1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nodeType="clickEffect">
                                  <p:stCondLst>
                                    <p:cond delay="0"/>
                                  </p:stCondLst>
                                  <p:childTnLst>
                                    <p:set>
                                      <p:cBhvr>
                                        <p:cTn id="76" dur="1" fill="hold">
                                          <p:stCondLst>
                                            <p:cond delay="0"/>
                                          </p:stCondLst>
                                        </p:cTn>
                                        <p:tgtEl>
                                          <p:spTgt spid="181">
                                            <p:txEl>
                                              <p:pRg st="2" end="2"/>
                                            </p:txEl>
                                          </p:spTgt>
                                        </p:tgtEl>
                                        <p:attrNameLst>
                                          <p:attrName>style.visibility</p:attrName>
                                        </p:attrNameLst>
                                      </p:cBhvr>
                                      <p:to>
                                        <p:strVal val="visible"/>
                                      </p:to>
                                    </p:set>
                                    <p:anim calcmode="lin" valueType="num">
                                      <p:cBhvr additive="base">
                                        <p:cTn id="77" dur="1000"/>
                                        <p:tgtEl>
                                          <p:spTgt spid="18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181">
                                            <p:txEl>
                                              <p:pRg st="3" end="3"/>
                                            </p:txEl>
                                          </p:spTgt>
                                        </p:tgtEl>
                                        <p:attrNameLst>
                                          <p:attrName>style.visibility</p:attrName>
                                        </p:attrNameLst>
                                      </p:cBhvr>
                                      <p:to>
                                        <p:strVal val="visible"/>
                                      </p:to>
                                    </p:set>
                                    <p:anim calcmode="lin" valueType="num">
                                      <p:cBhvr additive="base">
                                        <p:cTn id="82" dur="1000"/>
                                        <p:tgtEl>
                                          <p:spTgt spid="18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nodeType="clickEffect">
                                  <p:stCondLst>
                                    <p:cond delay="0"/>
                                  </p:stCondLst>
                                  <p:childTnLst>
                                    <p:set>
                                      <p:cBhvr>
                                        <p:cTn id="86" dur="1" fill="hold">
                                          <p:stCondLst>
                                            <p:cond delay="0"/>
                                          </p:stCondLst>
                                        </p:cTn>
                                        <p:tgtEl>
                                          <p:spTgt spid="181">
                                            <p:txEl>
                                              <p:pRg st="4" end="4"/>
                                            </p:txEl>
                                          </p:spTgt>
                                        </p:tgtEl>
                                        <p:attrNameLst>
                                          <p:attrName>style.visibility</p:attrName>
                                        </p:attrNameLst>
                                      </p:cBhvr>
                                      <p:to>
                                        <p:strVal val="visible"/>
                                      </p:to>
                                    </p:set>
                                    <p:anim calcmode="lin" valueType="num">
                                      <p:cBhvr additive="base">
                                        <p:cTn id="87" dur="1000"/>
                                        <p:tgtEl>
                                          <p:spTgt spid="18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nodeType="clickEffect">
                                  <p:stCondLst>
                                    <p:cond delay="0"/>
                                  </p:stCondLst>
                                  <p:childTnLst>
                                    <p:set>
                                      <p:cBhvr>
                                        <p:cTn id="91" dur="1" fill="hold">
                                          <p:stCondLst>
                                            <p:cond delay="0"/>
                                          </p:stCondLst>
                                        </p:cTn>
                                        <p:tgtEl>
                                          <p:spTgt spid="181">
                                            <p:txEl>
                                              <p:pRg st="5" end="5"/>
                                            </p:txEl>
                                          </p:spTgt>
                                        </p:tgtEl>
                                        <p:attrNameLst>
                                          <p:attrName>style.visibility</p:attrName>
                                        </p:attrNameLst>
                                      </p:cBhvr>
                                      <p:to>
                                        <p:strVal val="visible"/>
                                      </p:to>
                                    </p:set>
                                    <p:anim calcmode="lin" valueType="num">
                                      <p:cBhvr additive="base">
                                        <p:cTn id="92" dur="1000"/>
                                        <p:tgtEl>
                                          <p:spTgt spid="18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nodeType="clickEffect">
                                  <p:stCondLst>
                                    <p:cond delay="0"/>
                                  </p:stCondLst>
                                  <p:childTnLst>
                                    <p:set>
                                      <p:cBhvr>
                                        <p:cTn id="96" dur="1" fill="hold">
                                          <p:stCondLst>
                                            <p:cond delay="0"/>
                                          </p:stCondLst>
                                        </p:cTn>
                                        <p:tgtEl>
                                          <p:spTgt spid="181">
                                            <p:txEl>
                                              <p:pRg st="6" end="6"/>
                                            </p:txEl>
                                          </p:spTgt>
                                        </p:tgtEl>
                                        <p:attrNameLst>
                                          <p:attrName>style.visibility</p:attrName>
                                        </p:attrNameLst>
                                      </p:cBhvr>
                                      <p:to>
                                        <p:strVal val="visible"/>
                                      </p:to>
                                    </p:set>
                                    <p:anim calcmode="lin" valueType="num">
                                      <p:cBhvr additive="base">
                                        <p:cTn id="97" dur="1000"/>
                                        <p:tgtEl>
                                          <p:spTgt spid="18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8" fill="hold" nodeType="clickEffect">
                                  <p:stCondLst>
                                    <p:cond delay="0"/>
                                  </p:stCondLst>
                                  <p:childTnLst>
                                    <p:set>
                                      <p:cBhvr>
                                        <p:cTn id="101" dur="1" fill="hold">
                                          <p:stCondLst>
                                            <p:cond delay="0"/>
                                          </p:stCondLst>
                                        </p:cTn>
                                        <p:tgtEl>
                                          <p:spTgt spid="181">
                                            <p:txEl>
                                              <p:pRg st="7" end="7"/>
                                            </p:txEl>
                                          </p:spTgt>
                                        </p:tgtEl>
                                        <p:attrNameLst>
                                          <p:attrName>style.visibility</p:attrName>
                                        </p:attrNameLst>
                                      </p:cBhvr>
                                      <p:to>
                                        <p:strVal val="visible"/>
                                      </p:to>
                                    </p:set>
                                    <p:anim calcmode="lin" valueType="num">
                                      <p:cBhvr additive="base">
                                        <p:cTn id="102" dur="1000"/>
                                        <p:tgtEl>
                                          <p:spTgt spid="181">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8" fill="hold" nodeType="clickEffect">
                                  <p:stCondLst>
                                    <p:cond delay="0"/>
                                  </p:stCondLst>
                                  <p:childTnLst>
                                    <p:set>
                                      <p:cBhvr>
                                        <p:cTn id="106" dur="1" fill="hold">
                                          <p:stCondLst>
                                            <p:cond delay="0"/>
                                          </p:stCondLst>
                                        </p:cTn>
                                        <p:tgtEl>
                                          <p:spTgt spid="181">
                                            <p:txEl>
                                              <p:pRg st="8" end="8"/>
                                            </p:txEl>
                                          </p:spTgt>
                                        </p:tgtEl>
                                        <p:attrNameLst>
                                          <p:attrName>style.visibility</p:attrName>
                                        </p:attrNameLst>
                                      </p:cBhvr>
                                      <p:to>
                                        <p:strVal val="visible"/>
                                      </p:to>
                                    </p:set>
                                    <p:anim calcmode="lin" valueType="num">
                                      <p:cBhvr additive="base">
                                        <p:cTn id="107" dur="1000"/>
                                        <p:tgtEl>
                                          <p:spTgt spid="181">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8" fill="hold" nodeType="clickEffect">
                                  <p:stCondLst>
                                    <p:cond delay="0"/>
                                  </p:stCondLst>
                                  <p:childTnLst>
                                    <p:set>
                                      <p:cBhvr>
                                        <p:cTn id="111" dur="1" fill="hold">
                                          <p:stCondLst>
                                            <p:cond delay="0"/>
                                          </p:stCondLst>
                                        </p:cTn>
                                        <p:tgtEl>
                                          <p:spTgt spid="181">
                                            <p:txEl>
                                              <p:pRg st="9" end="9"/>
                                            </p:txEl>
                                          </p:spTgt>
                                        </p:tgtEl>
                                        <p:attrNameLst>
                                          <p:attrName>style.visibility</p:attrName>
                                        </p:attrNameLst>
                                      </p:cBhvr>
                                      <p:to>
                                        <p:strVal val="visible"/>
                                      </p:to>
                                    </p:set>
                                    <p:anim calcmode="lin" valueType="num">
                                      <p:cBhvr additive="base">
                                        <p:cTn id="112" dur="1000"/>
                                        <p:tgtEl>
                                          <p:spTgt spid="181">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nodeType="clickEffect">
                                  <p:stCondLst>
                                    <p:cond delay="0"/>
                                  </p:stCondLst>
                                  <p:childTnLst>
                                    <p:set>
                                      <p:cBhvr>
                                        <p:cTn id="116" dur="1" fill="hold">
                                          <p:stCondLst>
                                            <p:cond delay="0"/>
                                          </p:stCondLst>
                                        </p:cTn>
                                        <p:tgtEl>
                                          <p:spTgt spid="181">
                                            <p:txEl>
                                              <p:pRg st="10" end="10"/>
                                            </p:txEl>
                                          </p:spTgt>
                                        </p:tgtEl>
                                        <p:attrNameLst>
                                          <p:attrName>style.visibility</p:attrName>
                                        </p:attrNameLst>
                                      </p:cBhvr>
                                      <p:to>
                                        <p:strVal val="visible"/>
                                      </p:to>
                                    </p:set>
                                    <p:anim calcmode="lin" valueType="num">
                                      <p:cBhvr additive="base">
                                        <p:cTn id="117" dur="1000"/>
                                        <p:tgtEl>
                                          <p:spTgt spid="181">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8" fill="hold" nodeType="clickEffect">
                                  <p:stCondLst>
                                    <p:cond delay="0"/>
                                  </p:stCondLst>
                                  <p:childTnLst>
                                    <p:set>
                                      <p:cBhvr>
                                        <p:cTn id="121" dur="1" fill="hold">
                                          <p:stCondLst>
                                            <p:cond delay="0"/>
                                          </p:stCondLst>
                                        </p:cTn>
                                        <p:tgtEl>
                                          <p:spTgt spid="181">
                                            <p:txEl>
                                              <p:pRg st="0" end="0"/>
                                            </p:txEl>
                                          </p:spTgt>
                                        </p:tgtEl>
                                        <p:attrNameLst>
                                          <p:attrName>style.visibility</p:attrName>
                                        </p:attrNameLst>
                                      </p:cBhvr>
                                      <p:to>
                                        <p:strVal val="visible"/>
                                      </p:to>
                                    </p:set>
                                    <p:anim calcmode="lin" valueType="num">
                                      <p:cBhvr additive="base">
                                        <p:cTn id="122" dur="1000"/>
                                        <p:tgtEl>
                                          <p:spTgt spid="1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nodeType="clickEffect">
                                  <p:stCondLst>
                                    <p:cond delay="0"/>
                                  </p:stCondLst>
                                  <p:childTnLst>
                                    <p:set>
                                      <p:cBhvr>
                                        <p:cTn id="126" dur="1" fill="hold">
                                          <p:stCondLst>
                                            <p:cond delay="0"/>
                                          </p:stCondLst>
                                        </p:cTn>
                                        <p:tgtEl>
                                          <p:spTgt spid="181">
                                            <p:txEl>
                                              <p:pRg st="1" end="1"/>
                                            </p:txEl>
                                          </p:spTgt>
                                        </p:tgtEl>
                                        <p:attrNameLst>
                                          <p:attrName>style.visibility</p:attrName>
                                        </p:attrNameLst>
                                      </p:cBhvr>
                                      <p:to>
                                        <p:strVal val="visible"/>
                                      </p:to>
                                    </p:set>
                                    <p:anim calcmode="lin" valueType="num">
                                      <p:cBhvr additive="base">
                                        <p:cTn id="127" dur="1000"/>
                                        <p:tgtEl>
                                          <p:spTgt spid="1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28" fill="hold">
                      <p:stCondLst>
                        <p:cond delay="indefinite"/>
                      </p:stCondLst>
                      <p:childTnLst>
                        <p:par>
                          <p:cTn id="129" fill="hold">
                            <p:stCondLst>
                              <p:cond delay="0"/>
                            </p:stCondLst>
                            <p:childTnLst>
                              <p:par>
                                <p:cTn id="130" presetID="2" presetClass="entr" presetSubtype="8" fill="hold" nodeType="clickEffect">
                                  <p:stCondLst>
                                    <p:cond delay="0"/>
                                  </p:stCondLst>
                                  <p:childTnLst>
                                    <p:set>
                                      <p:cBhvr>
                                        <p:cTn id="131" dur="1" fill="hold">
                                          <p:stCondLst>
                                            <p:cond delay="0"/>
                                          </p:stCondLst>
                                        </p:cTn>
                                        <p:tgtEl>
                                          <p:spTgt spid="181">
                                            <p:txEl>
                                              <p:pRg st="2" end="2"/>
                                            </p:txEl>
                                          </p:spTgt>
                                        </p:tgtEl>
                                        <p:attrNameLst>
                                          <p:attrName>style.visibility</p:attrName>
                                        </p:attrNameLst>
                                      </p:cBhvr>
                                      <p:to>
                                        <p:strVal val="visible"/>
                                      </p:to>
                                    </p:set>
                                    <p:anim calcmode="lin" valueType="num">
                                      <p:cBhvr additive="base">
                                        <p:cTn id="132" dur="1000"/>
                                        <p:tgtEl>
                                          <p:spTgt spid="18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8" fill="hold" nodeType="clickEffect">
                                  <p:stCondLst>
                                    <p:cond delay="0"/>
                                  </p:stCondLst>
                                  <p:childTnLst>
                                    <p:set>
                                      <p:cBhvr>
                                        <p:cTn id="136" dur="1" fill="hold">
                                          <p:stCondLst>
                                            <p:cond delay="0"/>
                                          </p:stCondLst>
                                        </p:cTn>
                                        <p:tgtEl>
                                          <p:spTgt spid="181">
                                            <p:txEl>
                                              <p:pRg st="3" end="3"/>
                                            </p:txEl>
                                          </p:spTgt>
                                        </p:tgtEl>
                                        <p:attrNameLst>
                                          <p:attrName>style.visibility</p:attrName>
                                        </p:attrNameLst>
                                      </p:cBhvr>
                                      <p:to>
                                        <p:strVal val="visible"/>
                                      </p:to>
                                    </p:set>
                                    <p:anim calcmode="lin" valueType="num">
                                      <p:cBhvr additive="base">
                                        <p:cTn id="137" dur="1000"/>
                                        <p:tgtEl>
                                          <p:spTgt spid="18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8" fill="hold" nodeType="clickEffect">
                                  <p:stCondLst>
                                    <p:cond delay="0"/>
                                  </p:stCondLst>
                                  <p:childTnLst>
                                    <p:set>
                                      <p:cBhvr>
                                        <p:cTn id="141" dur="1" fill="hold">
                                          <p:stCondLst>
                                            <p:cond delay="0"/>
                                          </p:stCondLst>
                                        </p:cTn>
                                        <p:tgtEl>
                                          <p:spTgt spid="181">
                                            <p:txEl>
                                              <p:pRg st="4" end="4"/>
                                            </p:txEl>
                                          </p:spTgt>
                                        </p:tgtEl>
                                        <p:attrNameLst>
                                          <p:attrName>style.visibility</p:attrName>
                                        </p:attrNameLst>
                                      </p:cBhvr>
                                      <p:to>
                                        <p:strVal val="visible"/>
                                      </p:to>
                                    </p:set>
                                    <p:anim calcmode="lin" valueType="num">
                                      <p:cBhvr additive="base">
                                        <p:cTn id="142" dur="1000"/>
                                        <p:tgtEl>
                                          <p:spTgt spid="18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8" fill="hold" nodeType="clickEffect">
                                  <p:stCondLst>
                                    <p:cond delay="0"/>
                                  </p:stCondLst>
                                  <p:childTnLst>
                                    <p:set>
                                      <p:cBhvr>
                                        <p:cTn id="146" dur="1" fill="hold">
                                          <p:stCondLst>
                                            <p:cond delay="0"/>
                                          </p:stCondLst>
                                        </p:cTn>
                                        <p:tgtEl>
                                          <p:spTgt spid="181">
                                            <p:txEl>
                                              <p:pRg st="5" end="5"/>
                                            </p:txEl>
                                          </p:spTgt>
                                        </p:tgtEl>
                                        <p:attrNameLst>
                                          <p:attrName>style.visibility</p:attrName>
                                        </p:attrNameLst>
                                      </p:cBhvr>
                                      <p:to>
                                        <p:strVal val="visible"/>
                                      </p:to>
                                    </p:set>
                                    <p:anim calcmode="lin" valueType="num">
                                      <p:cBhvr additive="base">
                                        <p:cTn id="147" dur="1000"/>
                                        <p:tgtEl>
                                          <p:spTgt spid="18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8" fill="hold" nodeType="clickEffect">
                                  <p:stCondLst>
                                    <p:cond delay="0"/>
                                  </p:stCondLst>
                                  <p:childTnLst>
                                    <p:set>
                                      <p:cBhvr>
                                        <p:cTn id="151" dur="1" fill="hold">
                                          <p:stCondLst>
                                            <p:cond delay="0"/>
                                          </p:stCondLst>
                                        </p:cTn>
                                        <p:tgtEl>
                                          <p:spTgt spid="181">
                                            <p:txEl>
                                              <p:pRg st="6" end="6"/>
                                            </p:txEl>
                                          </p:spTgt>
                                        </p:tgtEl>
                                        <p:attrNameLst>
                                          <p:attrName>style.visibility</p:attrName>
                                        </p:attrNameLst>
                                      </p:cBhvr>
                                      <p:to>
                                        <p:strVal val="visible"/>
                                      </p:to>
                                    </p:set>
                                    <p:anim calcmode="lin" valueType="num">
                                      <p:cBhvr additive="base">
                                        <p:cTn id="152" dur="1000"/>
                                        <p:tgtEl>
                                          <p:spTgt spid="18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nodeType="clickEffect">
                                  <p:stCondLst>
                                    <p:cond delay="0"/>
                                  </p:stCondLst>
                                  <p:childTnLst>
                                    <p:set>
                                      <p:cBhvr>
                                        <p:cTn id="156" dur="1" fill="hold">
                                          <p:stCondLst>
                                            <p:cond delay="0"/>
                                          </p:stCondLst>
                                        </p:cTn>
                                        <p:tgtEl>
                                          <p:spTgt spid="181">
                                            <p:txEl>
                                              <p:pRg st="7" end="7"/>
                                            </p:txEl>
                                          </p:spTgt>
                                        </p:tgtEl>
                                        <p:attrNameLst>
                                          <p:attrName>style.visibility</p:attrName>
                                        </p:attrNameLst>
                                      </p:cBhvr>
                                      <p:to>
                                        <p:strVal val="visible"/>
                                      </p:to>
                                    </p:set>
                                    <p:anim calcmode="lin" valueType="num">
                                      <p:cBhvr additive="base">
                                        <p:cTn id="157" dur="1000"/>
                                        <p:tgtEl>
                                          <p:spTgt spid="181">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158" fill="hold">
                      <p:stCondLst>
                        <p:cond delay="indefinite"/>
                      </p:stCondLst>
                      <p:childTnLst>
                        <p:par>
                          <p:cTn id="159" fill="hold">
                            <p:stCondLst>
                              <p:cond delay="0"/>
                            </p:stCondLst>
                            <p:childTnLst>
                              <p:par>
                                <p:cTn id="160" presetID="2" presetClass="entr" presetSubtype="8" fill="hold" nodeType="clickEffect">
                                  <p:stCondLst>
                                    <p:cond delay="0"/>
                                  </p:stCondLst>
                                  <p:childTnLst>
                                    <p:set>
                                      <p:cBhvr>
                                        <p:cTn id="161" dur="1" fill="hold">
                                          <p:stCondLst>
                                            <p:cond delay="0"/>
                                          </p:stCondLst>
                                        </p:cTn>
                                        <p:tgtEl>
                                          <p:spTgt spid="181">
                                            <p:txEl>
                                              <p:pRg st="8" end="8"/>
                                            </p:txEl>
                                          </p:spTgt>
                                        </p:tgtEl>
                                        <p:attrNameLst>
                                          <p:attrName>style.visibility</p:attrName>
                                        </p:attrNameLst>
                                      </p:cBhvr>
                                      <p:to>
                                        <p:strVal val="visible"/>
                                      </p:to>
                                    </p:set>
                                    <p:anim calcmode="lin" valueType="num">
                                      <p:cBhvr additive="base">
                                        <p:cTn id="162" dur="1000"/>
                                        <p:tgtEl>
                                          <p:spTgt spid="181">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8" fill="hold" nodeType="clickEffect">
                                  <p:stCondLst>
                                    <p:cond delay="0"/>
                                  </p:stCondLst>
                                  <p:childTnLst>
                                    <p:set>
                                      <p:cBhvr>
                                        <p:cTn id="166" dur="1" fill="hold">
                                          <p:stCondLst>
                                            <p:cond delay="0"/>
                                          </p:stCondLst>
                                        </p:cTn>
                                        <p:tgtEl>
                                          <p:spTgt spid="181">
                                            <p:txEl>
                                              <p:pRg st="9" end="9"/>
                                            </p:txEl>
                                          </p:spTgt>
                                        </p:tgtEl>
                                        <p:attrNameLst>
                                          <p:attrName>style.visibility</p:attrName>
                                        </p:attrNameLst>
                                      </p:cBhvr>
                                      <p:to>
                                        <p:strVal val="visible"/>
                                      </p:to>
                                    </p:set>
                                    <p:anim calcmode="lin" valueType="num">
                                      <p:cBhvr additive="base">
                                        <p:cTn id="167" dur="1000"/>
                                        <p:tgtEl>
                                          <p:spTgt spid="181">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168" fill="hold">
                      <p:stCondLst>
                        <p:cond delay="indefinite"/>
                      </p:stCondLst>
                      <p:childTnLst>
                        <p:par>
                          <p:cTn id="169" fill="hold">
                            <p:stCondLst>
                              <p:cond delay="0"/>
                            </p:stCondLst>
                            <p:childTnLst>
                              <p:par>
                                <p:cTn id="170" presetID="2" presetClass="entr" presetSubtype="8" fill="hold" nodeType="clickEffect">
                                  <p:stCondLst>
                                    <p:cond delay="0"/>
                                  </p:stCondLst>
                                  <p:childTnLst>
                                    <p:set>
                                      <p:cBhvr>
                                        <p:cTn id="171" dur="1" fill="hold">
                                          <p:stCondLst>
                                            <p:cond delay="0"/>
                                          </p:stCondLst>
                                        </p:cTn>
                                        <p:tgtEl>
                                          <p:spTgt spid="181">
                                            <p:txEl>
                                              <p:pRg st="10" end="10"/>
                                            </p:txEl>
                                          </p:spTgt>
                                        </p:tgtEl>
                                        <p:attrNameLst>
                                          <p:attrName>style.visibility</p:attrName>
                                        </p:attrNameLst>
                                      </p:cBhvr>
                                      <p:to>
                                        <p:strVal val="visible"/>
                                      </p:to>
                                    </p:set>
                                    <p:anim calcmode="lin" valueType="num">
                                      <p:cBhvr additive="base">
                                        <p:cTn id="172" dur="1000"/>
                                        <p:tgtEl>
                                          <p:spTgt spid="181">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8" fill="hold" nodeType="clickEffect">
                                  <p:stCondLst>
                                    <p:cond delay="0"/>
                                  </p:stCondLst>
                                  <p:childTnLst>
                                    <p:set>
                                      <p:cBhvr>
                                        <p:cTn id="176" dur="1" fill="hold">
                                          <p:stCondLst>
                                            <p:cond delay="0"/>
                                          </p:stCondLst>
                                        </p:cTn>
                                        <p:tgtEl>
                                          <p:spTgt spid="181">
                                            <p:txEl>
                                              <p:pRg st="0" end="0"/>
                                            </p:txEl>
                                          </p:spTgt>
                                        </p:tgtEl>
                                        <p:attrNameLst>
                                          <p:attrName>style.visibility</p:attrName>
                                        </p:attrNameLst>
                                      </p:cBhvr>
                                      <p:to>
                                        <p:strVal val="visible"/>
                                      </p:to>
                                    </p:set>
                                    <p:anim calcmode="lin" valueType="num">
                                      <p:cBhvr additive="base">
                                        <p:cTn id="177" dur="1000"/>
                                        <p:tgtEl>
                                          <p:spTgt spid="1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178" fill="hold">
                      <p:stCondLst>
                        <p:cond delay="indefinite"/>
                      </p:stCondLst>
                      <p:childTnLst>
                        <p:par>
                          <p:cTn id="179" fill="hold">
                            <p:stCondLst>
                              <p:cond delay="0"/>
                            </p:stCondLst>
                            <p:childTnLst>
                              <p:par>
                                <p:cTn id="180" presetID="2" presetClass="entr" presetSubtype="8" fill="hold" nodeType="clickEffect">
                                  <p:stCondLst>
                                    <p:cond delay="0"/>
                                  </p:stCondLst>
                                  <p:childTnLst>
                                    <p:set>
                                      <p:cBhvr>
                                        <p:cTn id="181" dur="1" fill="hold">
                                          <p:stCondLst>
                                            <p:cond delay="0"/>
                                          </p:stCondLst>
                                        </p:cTn>
                                        <p:tgtEl>
                                          <p:spTgt spid="181">
                                            <p:txEl>
                                              <p:pRg st="1" end="1"/>
                                            </p:txEl>
                                          </p:spTgt>
                                        </p:tgtEl>
                                        <p:attrNameLst>
                                          <p:attrName>style.visibility</p:attrName>
                                        </p:attrNameLst>
                                      </p:cBhvr>
                                      <p:to>
                                        <p:strVal val="visible"/>
                                      </p:to>
                                    </p:set>
                                    <p:anim calcmode="lin" valueType="num">
                                      <p:cBhvr additive="base">
                                        <p:cTn id="182" dur="1000"/>
                                        <p:tgtEl>
                                          <p:spTgt spid="1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nodeType="clickEffect">
                                  <p:stCondLst>
                                    <p:cond delay="0"/>
                                  </p:stCondLst>
                                  <p:childTnLst>
                                    <p:set>
                                      <p:cBhvr>
                                        <p:cTn id="186" dur="1" fill="hold">
                                          <p:stCondLst>
                                            <p:cond delay="0"/>
                                          </p:stCondLst>
                                        </p:cTn>
                                        <p:tgtEl>
                                          <p:spTgt spid="181">
                                            <p:txEl>
                                              <p:pRg st="2" end="2"/>
                                            </p:txEl>
                                          </p:spTgt>
                                        </p:tgtEl>
                                        <p:attrNameLst>
                                          <p:attrName>style.visibility</p:attrName>
                                        </p:attrNameLst>
                                      </p:cBhvr>
                                      <p:to>
                                        <p:strVal val="visible"/>
                                      </p:to>
                                    </p:set>
                                    <p:anim calcmode="lin" valueType="num">
                                      <p:cBhvr additive="base">
                                        <p:cTn id="187" dur="1000"/>
                                        <p:tgtEl>
                                          <p:spTgt spid="18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8" fill="hold">
                      <p:stCondLst>
                        <p:cond delay="indefinite"/>
                      </p:stCondLst>
                      <p:childTnLst>
                        <p:par>
                          <p:cTn id="189" fill="hold">
                            <p:stCondLst>
                              <p:cond delay="0"/>
                            </p:stCondLst>
                            <p:childTnLst>
                              <p:par>
                                <p:cTn id="190" presetID="2" presetClass="entr" presetSubtype="8" fill="hold" nodeType="clickEffect">
                                  <p:stCondLst>
                                    <p:cond delay="0"/>
                                  </p:stCondLst>
                                  <p:childTnLst>
                                    <p:set>
                                      <p:cBhvr>
                                        <p:cTn id="191" dur="1" fill="hold">
                                          <p:stCondLst>
                                            <p:cond delay="0"/>
                                          </p:stCondLst>
                                        </p:cTn>
                                        <p:tgtEl>
                                          <p:spTgt spid="181">
                                            <p:txEl>
                                              <p:pRg st="3" end="3"/>
                                            </p:txEl>
                                          </p:spTgt>
                                        </p:tgtEl>
                                        <p:attrNameLst>
                                          <p:attrName>style.visibility</p:attrName>
                                        </p:attrNameLst>
                                      </p:cBhvr>
                                      <p:to>
                                        <p:strVal val="visible"/>
                                      </p:to>
                                    </p:set>
                                    <p:anim calcmode="lin" valueType="num">
                                      <p:cBhvr additive="base">
                                        <p:cTn id="192" dur="1000"/>
                                        <p:tgtEl>
                                          <p:spTgt spid="18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193" fill="hold">
                      <p:stCondLst>
                        <p:cond delay="indefinite"/>
                      </p:stCondLst>
                      <p:childTnLst>
                        <p:par>
                          <p:cTn id="194" fill="hold">
                            <p:stCondLst>
                              <p:cond delay="0"/>
                            </p:stCondLst>
                            <p:childTnLst>
                              <p:par>
                                <p:cTn id="195" presetID="2" presetClass="entr" presetSubtype="8" fill="hold" nodeType="clickEffect">
                                  <p:stCondLst>
                                    <p:cond delay="0"/>
                                  </p:stCondLst>
                                  <p:childTnLst>
                                    <p:set>
                                      <p:cBhvr>
                                        <p:cTn id="196" dur="1" fill="hold">
                                          <p:stCondLst>
                                            <p:cond delay="0"/>
                                          </p:stCondLst>
                                        </p:cTn>
                                        <p:tgtEl>
                                          <p:spTgt spid="181">
                                            <p:txEl>
                                              <p:pRg st="4" end="4"/>
                                            </p:txEl>
                                          </p:spTgt>
                                        </p:tgtEl>
                                        <p:attrNameLst>
                                          <p:attrName>style.visibility</p:attrName>
                                        </p:attrNameLst>
                                      </p:cBhvr>
                                      <p:to>
                                        <p:strVal val="visible"/>
                                      </p:to>
                                    </p:set>
                                    <p:anim calcmode="lin" valueType="num">
                                      <p:cBhvr additive="base">
                                        <p:cTn id="197" dur="1000"/>
                                        <p:tgtEl>
                                          <p:spTgt spid="18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198" fill="hold">
                      <p:stCondLst>
                        <p:cond delay="indefinite"/>
                      </p:stCondLst>
                      <p:childTnLst>
                        <p:par>
                          <p:cTn id="199" fill="hold">
                            <p:stCondLst>
                              <p:cond delay="0"/>
                            </p:stCondLst>
                            <p:childTnLst>
                              <p:par>
                                <p:cTn id="200" presetID="2" presetClass="entr" presetSubtype="8" fill="hold" nodeType="clickEffect">
                                  <p:stCondLst>
                                    <p:cond delay="0"/>
                                  </p:stCondLst>
                                  <p:childTnLst>
                                    <p:set>
                                      <p:cBhvr>
                                        <p:cTn id="201" dur="1" fill="hold">
                                          <p:stCondLst>
                                            <p:cond delay="0"/>
                                          </p:stCondLst>
                                        </p:cTn>
                                        <p:tgtEl>
                                          <p:spTgt spid="181">
                                            <p:txEl>
                                              <p:pRg st="5" end="5"/>
                                            </p:txEl>
                                          </p:spTgt>
                                        </p:tgtEl>
                                        <p:attrNameLst>
                                          <p:attrName>style.visibility</p:attrName>
                                        </p:attrNameLst>
                                      </p:cBhvr>
                                      <p:to>
                                        <p:strVal val="visible"/>
                                      </p:to>
                                    </p:set>
                                    <p:anim calcmode="lin" valueType="num">
                                      <p:cBhvr additive="base">
                                        <p:cTn id="202" dur="1000"/>
                                        <p:tgtEl>
                                          <p:spTgt spid="18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8" fill="hold" nodeType="clickEffect">
                                  <p:stCondLst>
                                    <p:cond delay="0"/>
                                  </p:stCondLst>
                                  <p:childTnLst>
                                    <p:set>
                                      <p:cBhvr>
                                        <p:cTn id="206" dur="1" fill="hold">
                                          <p:stCondLst>
                                            <p:cond delay="0"/>
                                          </p:stCondLst>
                                        </p:cTn>
                                        <p:tgtEl>
                                          <p:spTgt spid="181">
                                            <p:txEl>
                                              <p:pRg st="6" end="6"/>
                                            </p:txEl>
                                          </p:spTgt>
                                        </p:tgtEl>
                                        <p:attrNameLst>
                                          <p:attrName>style.visibility</p:attrName>
                                        </p:attrNameLst>
                                      </p:cBhvr>
                                      <p:to>
                                        <p:strVal val="visible"/>
                                      </p:to>
                                    </p:set>
                                    <p:anim calcmode="lin" valueType="num">
                                      <p:cBhvr additive="base">
                                        <p:cTn id="207" dur="1000"/>
                                        <p:tgtEl>
                                          <p:spTgt spid="18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208" fill="hold">
                      <p:stCondLst>
                        <p:cond delay="indefinite"/>
                      </p:stCondLst>
                      <p:childTnLst>
                        <p:par>
                          <p:cTn id="209" fill="hold">
                            <p:stCondLst>
                              <p:cond delay="0"/>
                            </p:stCondLst>
                            <p:childTnLst>
                              <p:par>
                                <p:cTn id="210" presetID="2" presetClass="entr" presetSubtype="8" fill="hold" nodeType="clickEffect">
                                  <p:stCondLst>
                                    <p:cond delay="0"/>
                                  </p:stCondLst>
                                  <p:childTnLst>
                                    <p:set>
                                      <p:cBhvr>
                                        <p:cTn id="211" dur="1" fill="hold">
                                          <p:stCondLst>
                                            <p:cond delay="0"/>
                                          </p:stCondLst>
                                        </p:cTn>
                                        <p:tgtEl>
                                          <p:spTgt spid="181">
                                            <p:txEl>
                                              <p:pRg st="7" end="7"/>
                                            </p:txEl>
                                          </p:spTgt>
                                        </p:tgtEl>
                                        <p:attrNameLst>
                                          <p:attrName>style.visibility</p:attrName>
                                        </p:attrNameLst>
                                      </p:cBhvr>
                                      <p:to>
                                        <p:strVal val="visible"/>
                                      </p:to>
                                    </p:set>
                                    <p:anim calcmode="lin" valueType="num">
                                      <p:cBhvr additive="base">
                                        <p:cTn id="212" dur="1000"/>
                                        <p:tgtEl>
                                          <p:spTgt spid="181">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8" fill="hold" nodeType="clickEffect">
                                  <p:stCondLst>
                                    <p:cond delay="0"/>
                                  </p:stCondLst>
                                  <p:childTnLst>
                                    <p:set>
                                      <p:cBhvr>
                                        <p:cTn id="216" dur="1" fill="hold">
                                          <p:stCondLst>
                                            <p:cond delay="0"/>
                                          </p:stCondLst>
                                        </p:cTn>
                                        <p:tgtEl>
                                          <p:spTgt spid="181">
                                            <p:txEl>
                                              <p:pRg st="8" end="8"/>
                                            </p:txEl>
                                          </p:spTgt>
                                        </p:tgtEl>
                                        <p:attrNameLst>
                                          <p:attrName>style.visibility</p:attrName>
                                        </p:attrNameLst>
                                      </p:cBhvr>
                                      <p:to>
                                        <p:strVal val="visible"/>
                                      </p:to>
                                    </p:set>
                                    <p:anim calcmode="lin" valueType="num">
                                      <p:cBhvr additive="base">
                                        <p:cTn id="217" dur="1000"/>
                                        <p:tgtEl>
                                          <p:spTgt spid="181">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218" fill="hold">
                      <p:stCondLst>
                        <p:cond delay="indefinite"/>
                      </p:stCondLst>
                      <p:childTnLst>
                        <p:par>
                          <p:cTn id="219" fill="hold">
                            <p:stCondLst>
                              <p:cond delay="0"/>
                            </p:stCondLst>
                            <p:childTnLst>
                              <p:par>
                                <p:cTn id="220" presetID="2" presetClass="entr" presetSubtype="8" fill="hold" nodeType="clickEffect">
                                  <p:stCondLst>
                                    <p:cond delay="0"/>
                                  </p:stCondLst>
                                  <p:childTnLst>
                                    <p:set>
                                      <p:cBhvr>
                                        <p:cTn id="221" dur="1" fill="hold">
                                          <p:stCondLst>
                                            <p:cond delay="0"/>
                                          </p:stCondLst>
                                        </p:cTn>
                                        <p:tgtEl>
                                          <p:spTgt spid="181">
                                            <p:txEl>
                                              <p:pRg st="9" end="9"/>
                                            </p:txEl>
                                          </p:spTgt>
                                        </p:tgtEl>
                                        <p:attrNameLst>
                                          <p:attrName>style.visibility</p:attrName>
                                        </p:attrNameLst>
                                      </p:cBhvr>
                                      <p:to>
                                        <p:strVal val="visible"/>
                                      </p:to>
                                    </p:set>
                                    <p:anim calcmode="lin" valueType="num">
                                      <p:cBhvr additive="base">
                                        <p:cTn id="222" dur="1000"/>
                                        <p:tgtEl>
                                          <p:spTgt spid="181">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223" fill="hold">
                      <p:stCondLst>
                        <p:cond delay="indefinite"/>
                      </p:stCondLst>
                      <p:childTnLst>
                        <p:par>
                          <p:cTn id="224" fill="hold">
                            <p:stCondLst>
                              <p:cond delay="0"/>
                            </p:stCondLst>
                            <p:childTnLst>
                              <p:par>
                                <p:cTn id="225" presetID="2" presetClass="entr" presetSubtype="8" fill="hold" nodeType="clickEffect">
                                  <p:stCondLst>
                                    <p:cond delay="0"/>
                                  </p:stCondLst>
                                  <p:childTnLst>
                                    <p:set>
                                      <p:cBhvr>
                                        <p:cTn id="226" dur="1" fill="hold">
                                          <p:stCondLst>
                                            <p:cond delay="0"/>
                                          </p:stCondLst>
                                        </p:cTn>
                                        <p:tgtEl>
                                          <p:spTgt spid="181">
                                            <p:txEl>
                                              <p:pRg st="10" end="10"/>
                                            </p:txEl>
                                          </p:spTgt>
                                        </p:tgtEl>
                                        <p:attrNameLst>
                                          <p:attrName>style.visibility</p:attrName>
                                        </p:attrNameLst>
                                      </p:cBhvr>
                                      <p:to>
                                        <p:strVal val="visible"/>
                                      </p:to>
                                    </p:set>
                                    <p:anim calcmode="lin" valueType="num">
                                      <p:cBhvr additive="base">
                                        <p:cTn id="227" dur="1000"/>
                                        <p:tgtEl>
                                          <p:spTgt spid="181">
                                            <p:txEl>
                                              <p:pRg st="10" end="10"/>
                                            </p:txEl>
                                          </p:spTgt>
                                        </p:tgtEl>
                                        <p:attrNameLst>
                                          <p:attrName>ppt_x</p:attrName>
                                        </p:attrNameLst>
                                      </p:cBhvr>
                                      <p:tavLst>
                                        <p:tav tm="0">
                                          <p:val>
                                            <p:strVal val="#ppt_x-1"/>
                                          </p:val>
                                        </p:tav>
                                        <p:tav tm="100000">
                                          <p:val>
                                            <p:strVal val="#ppt_x"/>
                                          </p:val>
                                        </p:tav>
                                      </p:tavLst>
                                    </p:anim>
                                  </p:childTnLst>
                                </p:cTn>
                              </p:par>
                            </p:childTnLst>
                          </p:cTn>
                        </p:par>
                      </p:childTnLst>
                    </p:cTn>
                  </p:par>
                  <p:par>
                    <p:cTn id="228" fill="hold">
                      <p:stCondLst>
                        <p:cond delay="indefinite"/>
                      </p:stCondLst>
                      <p:childTnLst>
                        <p:par>
                          <p:cTn id="229" fill="hold">
                            <p:stCondLst>
                              <p:cond delay="0"/>
                            </p:stCondLst>
                            <p:childTnLst>
                              <p:par>
                                <p:cTn id="230" presetID="2" presetClass="entr" presetSubtype="8" fill="hold" nodeType="clickEffect">
                                  <p:stCondLst>
                                    <p:cond delay="0"/>
                                  </p:stCondLst>
                                  <p:childTnLst>
                                    <p:set>
                                      <p:cBhvr>
                                        <p:cTn id="231" dur="1" fill="hold">
                                          <p:stCondLst>
                                            <p:cond delay="0"/>
                                          </p:stCondLst>
                                        </p:cTn>
                                        <p:tgtEl>
                                          <p:spTgt spid="181">
                                            <p:txEl>
                                              <p:pRg st="0" end="0"/>
                                            </p:txEl>
                                          </p:spTgt>
                                        </p:tgtEl>
                                        <p:attrNameLst>
                                          <p:attrName>style.visibility</p:attrName>
                                        </p:attrNameLst>
                                      </p:cBhvr>
                                      <p:to>
                                        <p:strVal val="visible"/>
                                      </p:to>
                                    </p:set>
                                    <p:anim calcmode="lin" valueType="num">
                                      <p:cBhvr additive="base">
                                        <p:cTn id="232" dur="1000"/>
                                        <p:tgtEl>
                                          <p:spTgt spid="1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233" fill="hold">
                      <p:stCondLst>
                        <p:cond delay="indefinite"/>
                      </p:stCondLst>
                      <p:childTnLst>
                        <p:par>
                          <p:cTn id="234" fill="hold">
                            <p:stCondLst>
                              <p:cond delay="0"/>
                            </p:stCondLst>
                            <p:childTnLst>
                              <p:par>
                                <p:cTn id="235" presetID="2" presetClass="entr" presetSubtype="8" fill="hold" nodeType="clickEffect">
                                  <p:stCondLst>
                                    <p:cond delay="0"/>
                                  </p:stCondLst>
                                  <p:childTnLst>
                                    <p:set>
                                      <p:cBhvr>
                                        <p:cTn id="236" dur="1" fill="hold">
                                          <p:stCondLst>
                                            <p:cond delay="0"/>
                                          </p:stCondLst>
                                        </p:cTn>
                                        <p:tgtEl>
                                          <p:spTgt spid="181">
                                            <p:txEl>
                                              <p:pRg st="1" end="1"/>
                                            </p:txEl>
                                          </p:spTgt>
                                        </p:tgtEl>
                                        <p:attrNameLst>
                                          <p:attrName>style.visibility</p:attrName>
                                        </p:attrNameLst>
                                      </p:cBhvr>
                                      <p:to>
                                        <p:strVal val="visible"/>
                                      </p:to>
                                    </p:set>
                                    <p:anim calcmode="lin" valueType="num">
                                      <p:cBhvr additive="base">
                                        <p:cTn id="237" dur="1000"/>
                                        <p:tgtEl>
                                          <p:spTgt spid="1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238" fill="hold">
                      <p:stCondLst>
                        <p:cond delay="indefinite"/>
                      </p:stCondLst>
                      <p:childTnLst>
                        <p:par>
                          <p:cTn id="239" fill="hold">
                            <p:stCondLst>
                              <p:cond delay="0"/>
                            </p:stCondLst>
                            <p:childTnLst>
                              <p:par>
                                <p:cTn id="240" presetID="2" presetClass="entr" presetSubtype="8" fill="hold" nodeType="clickEffect">
                                  <p:stCondLst>
                                    <p:cond delay="0"/>
                                  </p:stCondLst>
                                  <p:childTnLst>
                                    <p:set>
                                      <p:cBhvr>
                                        <p:cTn id="241" dur="1" fill="hold">
                                          <p:stCondLst>
                                            <p:cond delay="0"/>
                                          </p:stCondLst>
                                        </p:cTn>
                                        <p:tgtEl>
                                          <p:spTgt spid="181">
                                            <p:txEl>
                                              <p:pRg st="2" end="2"/>
                                            </p:txEl>
                                          </p:spTgt>
                                        </p:tgtEl>
                                        <p:attrNameLst>
                                          <p:attrName>style.visibility</p:attrName>
                                        </p:attrNameLst>
                                      </p:cBhvr>
                                      <p:to>
                                        <p:strVal val="visible"/>
                                      </p:to>
                                    </p:set>
                                    <p:anim calcmode="lin" valueType="num">
                                      <p:cBhvr additive="base">
                                        <p:cTn id="242" dur="1000"/>
                                        <p:tgtEl>
                                          <p:spTgt spid="18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ntr" presetSubtype="8" fill="hold" nodeType="clickEffect">
                                  <p:stCondLst>
                                    <p:cond delay="0"/>
                                  </p:stCondLst>
                                  <p:childTnLst>
                                    <p:set>
                                      <p:cBhvr>
                                        <p:cTn id="246" dur="1" fill="hold">
                                          <p:stCondLst>
                                            <p:cond delay="0"/>
                                          </p:stCondLst>
                                        </p:cTn>
                                        <p:tgtEl>
                                          <p:spTgt spid="181">
                                            <p:txEl>
                                              <p:pRg st="3" end="3"/>
                                            </p:txEl>
                                          </p:spTgt>
                                        </p:tgtEl>
                                        <p:attrNameLst>
                                          <p:attrName>style.visibility</p:attrName>
                                        </p:attrNameLst>
                                      </p:cBhvr>
                                      <p:to>
                                        <p:strVal val="visible"/>
                                      </p:to>
                                    </p:set>
                                    <p:anim calcmode="lin" valueType="num">
                                      <p:cBhvr additive="base">
                                        <p:cTn id="247" dur="1000"/>
                                        <p:tgtEl>
                                          <p:spTgt spid="18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48" fill="hold">
                      <p:stCondLst>
                        <p:cond delay="indefinite"/>
                      </p:stCondLst>
                      <p:childTnLst>
                        <p:par>
                          <p:cTn id="249" fill="hold">
                            <p:stCondLst>
                              <p:cond delay="0"/>
                            </p:stCondLst>
                            <p:childTnLst>
                              <p:par>
                                <p:cTn id="250" presetID="2" presetClass="entr" presetSubtype="8" fill="hold" nodeType="clickEffect">
                                  <p:stCondLst>
                                    <p:cond delay="0"/>
                                  </p:stCondLst>
                                  <p:childTnLst>
                                    <p:set>
                                      <p:cBhvr>
                                        <p:cTn id="251" dur="1" fill="hold">
                                          <p:stCondLst>
                                            <p:cond delay="0"/>
                                          </p:stCondLst>
                                        </p:cTn>
                                        <p:tgtEl>
                                          <p:spTgt spid="181">
                                            <p:txEl>
                                              <p:pRg st="4" end="4"/>
                                            </p:txEl>
                                          </p:spTgt>
                                        </p:tgtEl>
                                        <p:attrNameLst>
                                          <p:attrName>style.visibility</p:attrName>
                                        </p:attrNameLst>
                                      </p:cBhvr>
                                      <p:to>
                                        <p:strVal val="visible"/>
                                      </p:to>
                                    </p:set>
                                    <p:anim calcmode="lin" valueType="num">
                                      <p:cBhvr additive="base">
                                        <p:cTn id="252" dur="1000"/>
                                        <p:tgtEl>
                                          <p:spTgt spid="18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53" fill="hold">
                      <p:stCondLst>
                        <p:cond delay="indefinite"/>
                      </p:stCondLst>
                      <p:childTnLst>
                        <p:par>
                          <p:cTn id="254" fill="hold">
                            <p:stCondLst>
                              <p:cond delay="0"/>
                            </p:stCondLst>
                            <p:childTnLst>
                              <p:par>
                                <p:cTn id="255" presetID="2" presetClass="entr" presetSubtype="8" fill="hold" nodeType="clickEffect">
                                  <p:stCondLst>
                                    <p:cond delay="0"/>
                                  </p:stCondLst>
                                  <p:childTnLst>
                                    <p:set>
                                      <p:cBhvr>
                                        <p:cTn id="256" dur="1" fill="hold">
                                          <p:stCondLst>
                                            <p:cond delay="0"/>
                                          </p:stCondLst>
                                        </p:cTn>
                                        <p:tgtEl>
                                          <p:spTgt spid="181">
                                            <p:txEl>
                                              <p:pRg st="5" end="5"/>
                                            </p:txEl>
                                          </p:spTgt>
                                        </p:tgtEl>
                                        <p:attrNameLst>
                                          <p:attrName>style.visibility</p:attrName>
                                        </p:attrNameLst>
                                      </p:cBhvr>
                                      <p:to>
                                        <p:strVal val="visible"/>
                                      </p:to>
                                    </p:set>
                                    <p:anim calcmode="lin" valueType="num">
                                      <p:cBhvr additive="base">
                                        <p:cTn id="257" dur="1000"/>
                                        <p:tgtEl>
                                          <p:spTgt spid="18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258" fill="hold">
                      <p:stCondLst>
                        <p:cond delay="indefinite"/>
                      </p:stCondLst>
                      <p:childTnLst>
                        <p:par>
                          <p:cTn id="259" fill="hold">
                            <p:stCondLst>
                              <p:cond delay="0"/>
                            </p:stCondLst>
                            <p:childTnLst>
                              <p:par>
                                <p:cTn id="260" presetID="2" presetClass="entr" presetSubtype="8" fill="hold" nodeType="clickEffect">
                                  <p:stCondLst>
                                    <p:cond delay="0"/>
                                  </p:stCondLst>
                                  <p:childTnLst>
                                    <p:set>
                                      <p:cBhvr>
                                        <p:cTn id="261" dur="1" fill="hold">
                                          <p:stCondLst>
                                            <p:cond delay="0"/>
                                          </p:stCondLst>
                                        </p:cTn>
                                        <p:tgtEl>
                                          <p:spTgt spid="181">
                                            <p:txEl>
                                              <p:pRg st="6" end="6"/>
                                            </p:txEl>
                                          </p:spTgt>
                                        </p:tgtEl>
                                        <p:attrNameLst>
                                          <p:attrName>style.visibility</p:attrName>
                                        </p:attrNameLst>
                                      </p:cBhvr>
                                      <p:to>
                                        <p:strVal val="visible"/>
                                      </p:to>
                                    </p:set>
                                    <p:anim calcmode="lin" valueType="num">
                                      <p:cBhvr additive="base">
                                        <p:cTn id="262" dur="1000"/>
                                        <p:tgtEl>
                                          <p:spTgt spid="18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263" fill="hold">
                      <p:stCondLst>
                        <p:cond delay="indefinite"/>
                      </p:stCondLst>
                      <p:childTnLst>
                        <p:par>
                          <p:cTn id="264" fill="hold">
                            <p:stCondLst>
                              <p:cond delay="0"/>
                            </p:stCondLst>
                            <p:childTnLst>
                              <p:par>
                                <p:cTn id="265" presetID="2" presetClass="entr" presetSubtype="8" fill="hold" nodeType="clickEffect">
                                  <p:stCondLst>
                                    <p:cond delay="0"/>
                                  </p:stCondLst>
                                  <p:childTnLst>
                                    <p:set>
                                      <p:cBhvr>
                                        <p:cTn id="266" dur="1" fill="hold">
                                          <p:stCondLst>
                                            <p:cond delay="0"/>
                                          </p:stCondLst>
                                        </p:cTn>
                                        <p:tgtEl>
                                          <p:spTgt spid="181">
                                            <p:txEl>
                                              <p:pRg st="7" end="7"/>
                                            </p:txEl>
                                          </p:spTgt>
                                        </p:tgtEl>
                                        <p:attrNameLst>
                                          <p:attrName>style.visibility</p:attrName>
                                        </p:attrNameLst>
                                      </p:cBhvr>
                                      <p:to>
                                        <p:strVal val="visible"/>
                                      </p:to>
                                    </p:set>
                                    <p:anim calcmode="lin" valueType="num">
                                      <p:cBhvr additive="base">
                                        <p:cTn id="267" dur="1000"/>
                                        <p:tgtEl>
                                          <p:spTgt spid="181">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268" fill="hold">
                      <p:stCondLst>
                        <p:cond delay="indefinite"/>
                      </p:stCondLst>
                      <p:childTnLst>
                        <p:par>
                          <p:cTn id="269" fill="hold">
                            <p:stCondLst>
                              <p:cond delay="0"/>
                            </p:stCondLst>
                            <p:childTnLst>
                              <p:par>
                                <p:cTn id="270" presetID="2" presetClass="entr" presetSubtype="8" fill="hold" nodeType="clickEffect">
                                  <p:stCondLst>
                                    <p:cond delay="0"/>
                                  </p:stCondLst>
                                  <p:childTnLst>
                                    <p:set>
                                      <p:cBhvr>
                                        <p:cTn id="271" dur="1" fill="hold">
                                          <p:stCondLst>
                                            <p:cond delay="0"/>
                                          </p:stCondLst>
                                        </p:cTn>
                                        <p:tgtEl>
                                          <p:spTgt spid="181">
                                            <p:txEl>
                                              <p:pRg st="8" end="8"/>
                                            </p:txEl>
                                          </p:spTgt>
                                        </p:tgtEl>
                                        <p:attrNameLst>
                                          <p:attrName>style.visibility</p:attrName>
                                        </p:attrNameLst>
                                      </p:cBhvr>
                                      <p:to>
                                        <p:strVal val="visible"/>
                                      </p:to>
                                    </p:set>
                                    <p:anim calcmode="lin" valueType="num">
                                      <p:cBhvr additive="base">
                                        <p:cTn id="272" dur="1000"/>
                                        <p:tgtEl>
                                          <p:spTgt spid="181">
                                            <p:txEl>
                                              <p:pRg st="8" end="8"/>
                                            </p:txEl>
                                          </p:spTgt>
                                        </p:tgtEl>
                                        <p:attrNameLst>
                                          <p:attrName>ppt_x</p:attrName>
                                        </p:attrNameLst>
                                      </p:cBhvr>
                                      <p:tavLst>
                                        <p:tav tm="0">
                                          <p:val>
                                            <p:strVal val="#ppt_x-1"/>
                                          </p:val>
                                        </p:tav>
                                        <p:tav tm="100000">
                                          <p:val>
                                            <p:strVal val="#ppt_x"/>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8" fill="hold" nodeType="clickEffect">
                                  <p:stCondLst>
                                    <p:cond delay="0"/>
                                  </p:stCondLst>
                                  <p:childTnLst>
                                    <p:set>
                                      <p:cBhvr>
                                        <p:cTn id="276" dur="1" fill="hold">
                                          <p:stCondLst>
                                            <p:cond delay="0"/>
                                          </p:stCondLst>
                                        </p:cTn>
                                        <p:tgtEl>
                                          <p:spTgt spid="181">
                                            <p:txEl>
                                              <p:pRg st="9" end="9"/>
                                            </p:txEl>
                                          </p:spTgt>
                                        </p:tgtEl>
                                        <p:attrNameLst>
                                          <p:attrName>style.visibility</p:attrName>
                                        </p:attrNameLst>
                                      </p:cBhvr>
                                      <p:to>
                                        <p:strVal val="visible"/>
                                      </p:to>
                                    </p:set>
                                    <p:anim calcmode="lin" valueType="num">
                                      <p:cBhvr additive="base">
                                        <p:cTn id="277" dur="1000"/>
                                        <p:tgtEl>
                                          <p:spTgt spid="181">
                                            <p:txEl>
                                              <p:pRg st="9" end="9"/>
                                            </p:txEl>
                                          </p:spTgt>
                                        </p:tgtEl>
                                        <p:attrNameLst>
                                          <p:attrName>ppt_x</p:attrName>
                                        </p:attrNameLst>
                                      </p:cBhvr>
                                      <p:tavLst>
                                        <p:tav tm="0">
                                          <p:val>
                                            <p:strVal val="#ppt_x-1"/>
                                          </p:val>
                                        </p:tav>
                                        <p:tav tm="100000">
                                          <p:val>
                                            <p:strVal val="#ppt_x"/>
                                          </p:val>
                                        </p:tav>
                                      </p:tavLst>
                                    </p:anim>
                                  </p:childTnLst>
                                </p:cTn>
                              </p:par>
                            </p:childTnLst>
                          </p:cTn>
                        </p:par>
                      </p:childTnLst>
                    </p:cTn>
                  </p:par>
                  <p:par>
                    <p:cTn id="278" fill="hold">
                      <p:stCondLst>
                        <p:cond delay="indefinite"/>
                      </p:stCondLst>
                      <p:childTnLst>
                        <p:par>
                          <p:cTn id="279" fill="hold">
                            <p:stCondLst>
                              <p:cond delay="0"/>
                            </p:stCondLst>
                            <p:childTnLst>
                              <p:par>
                                <p:cTn id="280" presetID="2" presetClass="entr" presetSubtype="8" fill="hold" nodeType="clickEffect">
                                  <p:stCondLst>
                                    <p:cond delay="0"/>
                                  </p:stCondLst>
                                  <p:childTnLst>
                                    <p:set>
                                      <p:cBhvr>
                                        <p:cTn id="281" dur="1" fill="hold">
                                          <p:stCondLst>
                                            <p:cond delay="0"/>
                                          </p:stCondLst>
                                        </p:cTn>
                                        <p:tgtEl>
                                          <p:spTgt spid="181">
                                            <p:txEl>
                                              <p:pRg st="10" end="10"/>
                                            </p:txEl>
                                          </p:spTgt>
                                        </p:tgtEl>
                                        <p:attrNameLst>
                                          <p:attrName>style.visibility</p:attrName>
                                        </p:attrNameLst>
                                      </p:cBhvr>
                                      <p:to>
                                        <p:strVal val="visible"/>
                                      </p:to>
                                    </p:set>
                                    <p:anim calcmode="lin" valueType="num">
                                      <p:cBhvr additive="base">
                                        <p:cTn id="282" dur="1000"/>
                                        <p:tgtEl>
                                          <p:spTgt spid="181">
                                            <p:txEl>
                                              <p:pRg st="10" end="1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3"/>
          <p:cNvSpPr txBox="1"/>
          <p:nvPr/>
        </p:nvSpPr>
        <p:spPr>
          <a:xfrm>
            <a:off x="0" y="37425"/>
            <a:ext cx="9144000" cy="449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i="1" u="sng">
                <a:solidFill>
                  <a:srgbClr val="FAFBFC"/>
                </a:solidFill>
                <a:highlight>
                  <a:schemeClr val="dk1"/>
                </a:highlight>
                <a:latin typeface="Oswald"/>
                <a:ea typeface="Oswald"/>
                <a:cs typeface="Oswald"/>
                <a:sym typeface="Oswald"/>
              </a:rPr>
              <a:t>EXTERNAL PAYMENT GATEWAY</a:t>
            </a:r>
            <a:r>
              <a:rPr lang="en" sz="2400">
                <a:solidFill>
                  <a:srgbClr val="FAFBFC"/>
                </a:solidFill>
                <a:highlight>
                  <a:schemeClr val="dk1"/>
                </a:highlight>
                <a:latin typeface="Oswald"/>
                <a:ea typeface="Oswald"/>
                <a:cs typeface="Oswald"/>
                <a:sym typeface="Oswald"/>
              </a:rPr>
              <a:t> – </a:t>
            </a:r>
            <a:r>
              <a:rPr lang="en" sz="2400">
                <a:solidFill>
                  <a:srgbClr val="BF9000"/>
                </a:solidFill>
                <a:highlight>
                  <a:schemeClr val="dk1"/>
                </a:highlight>
                <a:latin typeface="Oswald"/>
                <a:ea typeface="Oswald"/>
                <a:cs typeface="Oswald"/>
                <a:sym typeface="Oswald"/>
              </a:rPr>
              <a:t>This component can interface with popular payment gateways like Amazon Payments, We Pay, PayPal, Apple Pay, or individual Credit Card providers like Amex, Visa, Mastercard, etc. The Order Service will interact with this component to ensure the payment is done at the time of confirming the order. The interaction should be synchronous in nature.</a:t>
            </a:r>
            <a:endParaRPr sz="2400">
              <a:solidFill>
                <a:srgbClr val="BF9000"/>
              </a:solidFill>
              <a:highlight>
                <a:schemeClr val="dk1"/>
              </a:highlight>
              <a:latin typeface="Oswald"/>
              <a:ea typeface="Oswald"/>
              <a:cs typeface="Oswald"/>
              <a:sym typeface="Oswald"/>
            </a:endParaRPr>
          </a:p>
          <a:p>
            <a:pPr marL="457200" lvl="0" indent="0" algn="l" rtl="0">
              <a:spcBef>
                <a:spcPts val="0"/>
              </a:spcBef>
              <a:spcAft>
                <a:spcPts val="0"/>
              </a:spcAft>
              <a:buNone/>
            </a:pPr>
            <a:endParaRPr>
              <a:solidFill>
                <a:srgbClr val="BF9000"/>
              </a:solidFill>
              <a:highlight>
                <a:schemeClr val="dk1"/>
              </a:highlight>
              <a:latin typeface="Oswald"/>
              <a:ea typeface="Oswald"/>
              <a:cs typeface="Oswald"/>
              <a:sym typeface="Oswald"/>
            </a:endParaRPr>
          </a:p>
          <a:p>
            <a:pPr marL="0" lvl="0" indent="0" algn="l" rtl="0">
              <a:spcBef>
                <a:spcPts val="0"/>
              </a:spcBef>
              <a:spcAft>
                <a:spcPts val="0"/>
              </a:spcAft>
              <a:buNone/>
            </a:pPr>
            <a:r>
              <a:rPr lang="en" sz="2600" b="1" i="1" u="sng">
                <a:solidFill>
                  <a:schemeClr val="lt1"/>
                </a:solidFill>
                <a:highlight>
                  <a:schemeClr val="dk1"/>
                </a:highlight>
                <a:latin typeface="Oswald"/>
                <a:ea typeface="Oswald"/>
                <a:cs typeface="Oswald"/>
                <a:sym typeface="Oswald"/>
              </a:rPr>
              <a:t>NOTIFICATION SERVICE </a:t>
            </a:r>
            <a:r>
              <a:rPr lang="en" sz="2600">
                <a:solidFill>
                  <a:schemeClr val="lt1"/>
                </a:solidFill>
                <a:highlight>
                  <a:schemeClr val="dk1"/>
                </a:highlight>
                <a:latin typeface="Oswald"/>
                <a:ea typeface="Oswald"/>
                <a:cs typeface="Oswald"/>
                <a:sym typeface="Oswald"/>
              </a:rPr>
              <a:t> – </a:t>
            </a:r>
            <a:r>
              <a:rPr lang="en" sz="2400">
                <a:solidFill>
                  <a:srgbClr val="BF9000"/>
                </a:solidFill>
                <a:highlight>
                  <a:schemeClr val="dk1"/>
                </a:highlight>
                <a:latin typeface="Oswald"/>
                <a:ea typeface="Oswald"/>
                <a:cs typeface="Oswald"/>
                <a:sym typeface="Oswald"/>
              </a:rPr>
              <a:t>The notification service delivers notifications to actors in their preferred method (push, text, email, in-app) and abstracts the underlying communication with mobile carriers and email providers. It informs customers about various stages of the order, restaurants about order updates, and doordashers about orders waiting for acceptance, readiness for pickup, or delays.</a:t>
            </a:r>
            <a:endParaRPr sz="2600">
              <a:solidFill>
                <a:srgbClr val="BF9000"/>
              </a:solidFill>
              <a:highlight>
                <a:schemeClr val="dk1"/>
              </a:highlight>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 calcmode="lin" valueType="num">
                                      <p:cBhvr additive="base">
                                        <p:cTn id="7" dur="1000"/>
                                        <p:tgtEl>
                                          <p:spTgt spid="18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 calcmode="lin" valueType="num">
                                      <p:cBhvr additive="base">
                                        <p:cTn id="12" dur="1000"/>
                                        <p:tgtEl>
                                          <p:spTgt spid="18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 calcmode="lin" valueType="num">
                                      <p:cBhvr additive="base">
                                        <p:cTn id="17" dur="1000"/>
                                        <p:tgtEl>
                                          <p:spTgt spid="18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86">
                                            <p:txEl>
                                              <p:pRg st="0" end="0"/>
                                            </p:txEl>
                                          </p:spTgt>
                                        </p:tgtEl>
                                        <p:attrNameLst>
                                          <p:attrName>style.visibility</p:attrName>
                                        </p:attrNameLst>
                                      </p:cBhvr>
                                      <p:to>
                                        <p:strVal val="visible"/>
                                      </p:to>
                                    </p:set>
                                    <p:anim calcmode="lin" valueType="num">
                                      <p:cBhvr additive="base">
                                        <p:cTn id="22" dur="1000"/>
                                        <p:tgtEl>
                                          <p:spTgt spid="18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86">
                                            <p:txEl>
                                              <p:pRg st="1" end="1"/>
                                            </p:txEl>
                                          </p:spTgt>
                                        </p:tgtEl>
                                        <p:attrNameLst>
                                          <p:attrName>style.visibility</p:attrName>
                                        </p:attrNameLst>
                                      </p:cBhvr>
                                      <p:to>
                                        <p:strVal val="visible"/>
                                      </p:to>
                                    </p:set>
                                    <p:anim calcmode="lin" valueType="num">
                                      <p:cBhvr additive="base">
                                        <p:cTn id="27" dur="1000"/>
                                        <p:tgtEl>
                                          <p:spTgt spid="18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86">
                                            <p:txEl>
                                              <p:pRg st="2" end="2"/>
                                            </p:txEl>
                                          </p:spTgt>
                                        </p:tgtEl>
                                        <p:attrNameLst>
                                          <p:attrName>style.visibility</p:attrName>
                                        </p:attrNameLst>
                                      </p:cBhvr>
                                      <p:to>
                                        <p:strVal val="visible"/>
                                      </p:to>
                                    </p:set>
                                    <p:anim calcmode="lin" valueType="num">
                                      <p:cBhvr additive="base">
                                        <p:cTn id="32" dur="1000"/>
                                        <p:tgtEl>
                                          <p:spTgt spid="18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52" y="130364"/>
            <a:ext cx="8222100" cy="838800"/>
          </a:xfrm>
        </p:spPr>
        <p:txBody>
          <a:bodyPr/>
          <a:lstStyle/>
          <a:p>
            <a:r>
              <a:rPr lang="en-US" sz="4000" dirty="0" smtClean="0"/>
              <a:t>DOORDASH DATASET - .CSV FILE </a:t>
            </a:r>
            <a:endParaRPr lang="en-IN" sz="40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2884"/>
            <a:ext cx="9144000" cy="4280615"/>
          </a:xfrm>
          <a:prstGeom prst="rect">
            <a:avLst/>
          </a:prstGeom>
        </p:spPr>
      </p:pic>
    </p:spTree>
    <p:extLst>
      <p:ext uri="{BB962C8B-B14F-4D97-AF65-F5344CB8AC3E}">
        <p14:creationId xmlns:p14="http://schemas.microsoft.com/office/powerpoint/2010/main" val="1240612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11700" y="75149"/>
            <a:ext cx="8520600" cy="607800"/>
          </a:xfrm>
        </p:spPr>
        <p:txBody>
          <a:bodyPr/>
          <a:lstStyle/>
          <a:p>
            <a:r>
              <a:rPr lang="en-IN" dirty="0" err="1"/>
              <a:t>Data@doordash</a:t>
            </a:r>
            <a:endParaRPr lang="en-IN" dirty="0"/>
          </a:p>
        </p:txBody>
      </p:sp>
      <p:sp>
        <p:nvSpPr>
          <p:cNvPr id="5" name="Text Placeholder 4"/>
          <p:cNvSpPr>
            <a:spLocks noGrp="1"/>
          </p:cNvSpPr>
          <p:nvPr>
            <p:ph type="body" idx="1"/>
          </p:nvPr>
        </p:nvSpPr>
        <p:spPr>
          <a:xfrm>
            <a:off x="311700" y="682948"/>
            <a:ext cx="8520600" cy="3959885"/>
          </a:xfrm>
        </p:spPr>
        <p:txBody>
          <a:bodyPr/>
          <a:lstStyle/>
          <a:p>
            <a:r>
              <a:rPr lang="en-US" sz="1400" dirty="0"/>
              <a:t>DoorDash collects data from various sources, including customer and merchant feedback, app usage data, delivery and order information, and payment data</a:t>
            </a:r>
            <a:r>
              <a:rPr lang="en-US" sz="1400" dirty="0" smtClean="0"/>
              <a:t>.</a:t>
            </a:r>
          </a:p>
          <a:p>
            <a:r>
              <a:rPr lang="en-US" sz="1400" dirty="0" smtClean="0"/>
              <a:t>DoorDash </a:t>
            </a:r>
            <a:r>
              <a:rPr lang="en-US" sz="1400" dirty="0"/>
              <a:t>operates in over 4,000 cities in the United States, Canada, and </a:t>
            </a:r>
            <a:r>
              <a:rPr lang="en-US" sz="1400" dirty="0" err="1"/>
              <a:t>Australia.DoorDash</a:t>
            </a:r>
            <a:r>
              <a:rPr lang="en-US" sz="1400" dirty="0"/>
              <a:t> has partnerships with over 450,000 merchants</a:t>
            </a:r>
            <a:r>
              <a:rPr lang="en-US" sz="1400" dirty="0" smtClean="0"/>
              <a:t>.</a:t>
            </a:r>
          </a:p>
          <a:p>
            <a:r>
              <a:rPr lang="en-US" sz="1400" dirty="0" smtClean="0"/>
              <a:t>DoorDash </a:t>
            </a:r>
            <a:r>
              <a:rPr lang="en-US" sz="1400" dirty="0"/>
              <a:t>offers several delivery options, including standard delivery, group orders, and catering</a:t>
            </a:r>
            <a:r>
              <a:rPr lang="en-US" sz="1400" dirty="0" smtClean="0"/>
              <a:t>.</a:t>
            </a:r>
          </a:p>
          <a:p>
            <a:r>
              <a:rPr lang="en-US" sz="1400" dirty="0" smtClean="0"/>
              <a:t>DoorDash </a:t>
            </a:r>
            <a:r>
              <a:rPr lang="en-US" sz="1400" dirty="0"/>
              <a:t>uses machine learning and AI to optimize delivery times, predict demand, and improve courier efficiency</a:t>
            </a:r>
            <a:r>
              <a:rPr lang="en-US" sz="1400" dirty="0" smtClean="0"/>
              <a:t>.</a:t>
            </a:r>
          </a:p>
          <a:p>
            <a:r>
              <a:rPr lang="en-US" sz="1400" dirty="0" err="1" smtClean="0"/>
              <a:t>DoorDash's</a:t>
            </a:r>
            <a:r>
              <a:rPr lang="en-US" sz="1400" dirty="0" smtClean="0"/>
              <a:t> </a:t>
            </a:r>
            <a:r>
              <a:rPr lang="en-US" sz="1400" dirty="0"/>
              <a:t>data includes information on restaurant performance, such as order volume, order accuracy, and customer satisfaction</a:t>
            </a:r>
            <a:r>
              <a:rPr lang="en-US" sz="1400" dirty="0" smtClean="0"/>
              <a:t>.</a:t>
            </a:r>
          </a:p>
          <a:p>
            <a:r>
              <a:rPr lang="en-US" sz="1400" dirty="0" smtClean="0"/>
              <a:t>DoorDash </a:t>
            </a:r>
            <a:r>
              <a:rPr lang="en-US" sz="1400" dirty="0"/>
              <a:t>collects payment data, including payment methods and transaction histories</a:t>
            </a:r>
            <a:r>
              <a:rPr lang="en-US" sz="1400" dirty="0" smtClean="0"/>
              <a:t>.</a:t>
            </a:r>
          </a:p>
          <a:p>
            <a:r>
              <a:rPr lang="en-US" sz="1400" dirty="0" err="1" smtClean="0"/>
              <a:t>DoorDash's</a:t>
            </a:r>
            <a:r>
              <a:rPr lang="en-US" sz="1400" dirty="0" smtClean="0"/>
              <a:t> </a:t>
            </a:r>
            <a:r>
              <a:rPr lang="en-US" sz="1400" dirty="0"/>
              <a:t>data infrastructure includes technologies like Apache Kafka, Apache Spark, and Apache </a:t>
            </a:r>
            <a:r>
              <a:rPr lang="en-US" sz="1400" dirty="0" err="1"/>
              <a:t>Hadoop</a:t>
            </a:r>
            <a:r>
              <a:rPr lang="en-US" sz="1400" dirty="0" smtClean="0"/>
              <a:t>.</a:t>
            </a:r>
          </a:p>
          <a:p>
            <a:r>
              <a:rPr lang="en-US" sz="1400" dirty="0" smtClean="0"/>
              <a:t>DoorDash </a:t>
            </a:r>
            <a:r>
              <a:rPr lang="en-US" sz="1400" dirty="0"/>
              <a:t>processes billions of data events per day and has generated several petabytes of data</a:t>
            </a:r>
            <a:r>
              <a:rPr lang="en-US" sz="1400" dirty="0" smtClean="0"/>
              <a:t>.</a:t>
            </a:r>
          </a:p>
          <a:p>
            <a:r>
              <a:rPr lang="en-US" sz="1400" dirty="0" err="1" smtClean="0"/>
              <a:t>DoorDash's</a:t>
            </a:r>
            <a:r>
              <a:rPr lang="en-US" sz="1400" dirty="0" smtClean="0"/>
              <a:t> </a:t>
            </a:r>
            <a:r>
              <a:rPr lang="en-US" sz="1400" dirty="0"/>
              <a:t>data team includes data scientists, analysts, and engineers with diverse backgrounds and expertise.</a:t>
            </a:r>
            <a:endParaRPr lang="en-IN" sz="1400" dirty="0"/>
          </a:p>
        </p:txBody>
      </p:sp>
    </p:spTree>
    <p:extLst>
      <p:ext uri="{BB962C8B-B14F-4D97-AF65-F5344CB8AC3E}">
        <p14:creationId xmlns:p14="http://schemas.microsoft.com/office/powerpoint/2010/main" val="951367171"/>
      </p:ext>
    </p:extLst>
  </p:cSld>
  <p:clrMapOvr>
    <a:masterClrMapping/>
  </p:clrMapOvr>
  <p:timing>
    <p:tnLst>
      <p:par>
        <p:cTn id="1" dur="indefinite" restart="never" nodeType="tmRoot"/>
      </p:par>
    </p:tnLst>
  </p:timing>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1636</Words>
  <Application>Microsoft Office PowerPoint</Application>
  <PresentationFormat>On-screen Show (16:9)</PresentationFormat>
  <Paragraphs>103</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Oswald</vt:lpstr>
      <vt:lpstr>Roboto</vt:lpstr>
      <vt:lpstr>Arial</vt:lpstr>
      <vt:lpstr>Geometric</vt:lpstr>
      <vt:lpstr> CASE STUDY ON BIG DATA ANALYTICS</vt:lpstr>
      <vt:lpstr>TABLE OF CONTENTS</vt:lpstr>
      <vt:lpstr>  INTRODUCTION TO DOORDASH</vt:lpstr>
      <vt:lpstr>PowerPoint Presentation</vt:lpstr>
      <vt:lpstr>BUSINESS MODEL </vt:lpstr>
      <vt:lpstr>MOTIVATION &amp; SUCCESS STORY </vt:lpstr>
      <vt:lpstr>RESTAURANT RECOMMENDATIONS </vt:lpstr>
      <vt:lpstr>BIG DATA@DOORDASH</vt:lpstr>
      <vt:lpstr>PowerPoint Presentation</vt:lpstr>
      <vt:lpstr>ARCHITECTURE DESIGN OF DOORDASH</vt:lpstr>
      <vt:lpstr>PowerPoint Presentation</vt:lpstr>
      <vt:lpstr>DOORDASH DATASET - .CSV FILE </vt:lpstr>
      <vt:lpstr>Data@doordash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CASE STUDY ON BIG DATA ANALYTICS</dc:title>
  <cp:lastModifiedBy>HP</cp:lastModifiedBy>
  <cp:revision>8</cp:revision>
  <dcterms:modified xsi:type="dcterms:W3CDTF">2023-02-17T15:19:32Z</dcterms:modified>
</cp:coreProperties>
</file>